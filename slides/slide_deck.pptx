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87" r:id="rId2"/>
    <p:sldId id="273" r:id="rId3"/>
    <p:sldId id="293" r:id="rId4"/>
    <p:sldId id="275" r:id="rId5"/>
    <p:sldId id="294" r:id="rId6"/>
    <p:sldId id="295" r:id="rId7"/>
    <p:sldId id="290" r:id="rId8"/>
    <p:sldId id="281" r:id="rId9"/>
    <p:sldId id="292" r:id="rId10"/>
    <p:sldId id="289" r:id="rId11"/>
    <p:sldId id="285" r:id="rId12"/>
    <p:sldId id="28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744AE-808D-44B9-966E-EFE58C67CAD5}" v="5" dt="2026-10-08T03:45:42.7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03" autoAdjust="0"/>
    <p:restoredTop sz="82930" autoAdjust="0"/>
  </p:normalViewPr>
  <p:slideViewPr>
    <p:cSldViewPr snapToGrid="0">
      <p:cViewPr varScale="1">
        <p:scale>
          <a:sx n="92" d="100"/>
          <a:sy n="92" d="100"/>
        </p:scale>
        <p:origin x="1350" y="66"/>
      </p:cViewPr>
      <p:guideLst/>
    </p:cSldViewPr>
  </p:slideViewPr>
  <p:outlineViewPr>
    <p:cViewPr>
      <p:scale>
        <a:sx n="33" d="100"/>
        <a:sy n="33" d="100"/>
      </p:scale>
      <p:origin x="0" y="-92436"/>
    </p:cViewPr>
  </p:outlineViewPr>
  <p:notesTextViewPr>
    <p:cViewPr>
      <p:scale>
        <a:sx n="125" d="100"/>
        <a:sy n="12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15A918-BD41-4E57-A8A8-A8CD86257F42}" type="datetimeFigureOut">
              <a:rPr lang="en-US" smtClean="0"/>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A4DD1-8B7F-44F9-BA0D-730227C88751}" type="slidenum">
              <a:rPr lang="en-US" smtClean="0"/>
              <a:t>‹#›</a:t>
            </a:fld>
            <a:endParaRPr lang="en-US"/>
          </a:p>
        </p:txBody>
      </p:sp>
    </p:spTree>
    <p:extLst>
      <p:ext uri="{BB962C8B-B14F-4D97-AF65-F5344CB8AC3E}">
        <p14:creationId xmlns:p14="http://schemas.microsoft.com/office/powerpoint/2010/main" val="183319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takeaway is that an API answer needs more than plausible code. Gorilla combines training with documentation; my experiment only tests retrieval, prompting, and static checking. I did not reproduce fine-tuning. The assignment handbook was not available, so its additional requirements and page references remain unverified.</a:t>
            </a:r>
          </a:p>
          <a:p>
            <a:endParaRPr/>
          </a:p>
          <a:p>
            <a:r>
              <a:t>Sources: Paper pp. 1, 5; local notebook and saved experiment results.</a:t>
            </a:r>
          </a:p>
          <a:p>
            <a:r>
              <a:t>https://proceedings.neurips.cc/paper_files/paper/2024/file/e4c61f578ff07830f5c37378dd3ecb0d-Paper-Conference.pdf</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am studying natural-language selection of Kubernetes operations. A request such as changing a replica count needs the right operation, arguments, and patch format. This makes Gorilla relevant, but my safe pilot checks existing references with reads or server dry-runs and never executes model-generated code.</a:t>
            </a:r>
          </a:p>
          <a:p>
            <a:endParaRPr/>
          </a:p>
          <a:p>
            <a:r>
              <a:t>Sources: Paper pp. 1, 5; data/apis.json; data/queries.json; verified answer metadata.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paper studies general-purpose models selecting from many overlapping and changing APIs. A call can look like Python yet name a nonexistent API, choose the wrong existing API, or use wrong arguments. These are different failures and should not be collapsed into one explanation.</a:t>
            </a:r>
          </a:p>
          <a:p>
            <a:endParaRPr/>
          </a:p>
          <a:p>
            <a:r>
              <a:t>Sources: Paper pp. 1–3 (Introduction and Related Work).</a:t>
            </a:r>
          </a:p>
          <a:p>
            <a:r>
              <a:t>https://proceedings.neurips.cc/paper_files/paper/2024/file/e4c61f578ff07830f5c37378dd3ecb0d-Paper-Conference.pdf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upper lane is the paper’s training pipeline. GPT-4 generates instruction/API examples, then LLaMA-7B is fine-tuned with documentation. The lower lane retrieves a relevant document and combines it with the request. Gorilla can also run without retrieval. My notebook replaces the model and retriever and does not reproduce the upper lane.</a:t>
            </a:r>
          </a:p>
          <a:p>
            <a:endParaRPr/>
          </a:p>
          <a:p>
            <a:r>
              <a:t>Sources: Redrawn from paper Fig. 3, p. 4; method and retriever-aware training, p. 5.</a:t>
            </a:r>
          </a:p>
          <a:p>
            <a:r>
              <a:t>https://proceedings.neurips.cc/paper_files/paper/2024/file/e4c61f578ff07830f5c37378dd3ecb0d-Paper-Conference.pdf</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AST means Abstract Syntax Tree: a structured representation of code. The paper matches the API and predefined identifying arguments; an optional argument may be ignored. My stricter adaptation checks a literal allowed SDK call and verified selected arguments without executing it. API-service errors and real-but-unoffered APIs are separate from invented names.</a:t>
            </a:r>
          </a:p>
          <a:p>
            <a:endParaRPr/>
          </a:p>
          <a:p>
            <a:r>
              <a:t>Sources: Paper §3.3, pp. 5–6, Fig. 4; notebooks/gorilla_eval.py; refusal registry/evaluator.</a:t>
            </a:r>
          </a:p>
          <a:p>
            <a:r>
              <a:t>https://proceedings.neurips.cc/paper_files/paper/2024/file/e4c61f578ff07830f5c37378dd3ecb0d-Paper-Conference.pdf</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paper’s TorchHub results without a retriever: 59.13% accuracy for fine-tuned Gorilla versus 38.70% for GPT-4, a 20.43 percentage-point gap. Hallucination falls from 36.55% to 6.98%. This is a selected benchmark result with older checkpoints, not a universal ranking. HuggingFace comparisons use a different scoring rule for non-Gorilla models.</a:t>
            </a:r>
          </a:p>
          <a:p>
            <a:endParaRPr/>
          </a:p>
          <a:p>
            <a:r>
              <a:t>Sources: Paper Table 1, p. 8; metric caveats in §4.1, p. 7.</a:t>
            </a:r>
          </a:p>
          <a:p>
            <a:r>
              <a:t>https://proceedings.neurips.cc/paper_files/paper/2024/file/e4c61f578ff07830f5c37378dd3ecb0d-Paper-Conference.pdf</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holds the TorchHub dataset fixed and crosses training with or without documents against four inference settings. With oracle documents at inference, oracle-trained Gorilla improves from 54.83% to 67.20%. But that model scores zero without documents. Retrieval is not automatically beneficial; the training/inference combination matters. My ten-removal test is a different intervention.</a:t>
            </a:r>
          </a:p>
          <a:p>
            <a:endParaRPr/>
          </a:p>
          <a:p>
            <a:r>
              <a:t>Sources: Paper Table 2, p. 8; retriever-aware training, p. 5; discussion, p. 7.</a:t>
            </a:r>
          </a:p>
          <a:p>
            <a:r>
              <a:t>https://proceedings.neurips.cc/paper_files/paper/2024/file/e4c61f578ff07830f5c37378dd3ecb0d-Paper-Conference.pdf</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built the corpus from the official v1.35.2 specification and live discovery/OpenAPI. Requests were revised after read/dry-run checks: Workload cases became PriorityClass, and a DeviceClass read became create. Each removal independently starts from all 30 APIs and refits on 29. Labels stay outside model input. Qwen’s 23-token cap reduction preceded generation. No fine-tuning or generated-code execution was performed.</a:t>
            </a:r>
          </a:p>
          <a:p>
            <a:endParaRPr/>
          </a:p>
          <a:p>
            <a:r>
              <a:t>Sources: data/apis.json metadata; query/answer metadata; replacement audit; saved model protocols.</a:t>
            </a:r>
          </a:p>
          <a:p>
            <a:r>
              <a:t>https://raw.githubusercontent.com/kubernetes/kubernetes/v1.35.2/api/openapi-spec/swagger.json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API errors remain separate. Among successful baseline requests, correct calls are Gemma 3/4 and Qwen 4/20; removal refusals are 1/1 and 3/10. One Gemma success cannot support a model comparison. These strings are verbatim from different conditions and name unsupported SDK functions, not imaginary Kubernetes resource types. Two other Qwen removal responses called real APIs that had been excluded.</a:t>
            </a:r>
          </a:p>
          <a:p>
            <a:endParaRPr/>
          </a:p>
          <a:p>
            <a:r>
              <a:t>Sources: refusal/summary.json; qwen_baseline_trace.json req_005; qwen_generation.json req_019.</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Gorilla-inspired Kubernetes adaptation, not a reproduction of its training results. I have no fine-tuned Gorilla, no no-retrieval or oracle control, and only a small chosen test set. My rule requires the correct API in the top three, so its measured 85% recall bounds that metric. Static correctness does not establish runtime success. Handbook requirements remain missing and unverified.</a:t>
            </a:r>
          </a:p>
          <a:p>
            <a:endParaRPr/>
          </a:p>
          <a:p>
            <a:r>
              <a:t>Sources: Paper pp. 4–8, Table 2; notebook; saved protocols and refusal plan.</a:t>
            </a:r>
          </a:p>
          <a:p>
            <a:r>
              <a:t>https://proceedings.neurips.cc/paper_files/paper/2024/file/e4c61f578ff07830f5c37378dd3ecb0d-Paper-Conference.pdf</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follow-up questions, not claims that the paper ignored the topics. The paper allows fallback to learned knowledge, reports instruction/API-pair holdouts and test-time API changes, and discusses execution failures. I want stronger evidence about abstention, distribution shift, and checks required for state-changing operations.</a:t>
            </a:r>
          </a:p>
          <a:p>
            <a:endParaRPr/>
          </a:p>
          <a:p>
            <a:r>
              <a:t>Sources: Motivated by paper pp. 5, 7–9; Table 2, p. 8; execution discussion, p. 8.</a:t>
            </a:r>
          </a:p>
          <a:p>
            <a:r>
              <a:t>https://proceedings.neurips.cc/paper_files/paper/2024/file/e4c61f578ff07830f5c37378dd3ecb0d-Paper-Conference.pdf</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risk-dependent proposal, not a result or universal standard. With independent representative trials, 2,995/2,995 refusals gives a one-sided 95% lower bound above 99.9%; even 10/10 gives only 74.1%. Repeated prompts do not establish independent coverage. API errors never count as refusals. Before charging customers, I would also require high supported-call accuracy, low false refusals, operational testing, and enforced controls for writes.</a:t>
            </a:r>
          </a:p>
          <a:p>
            <a:endParaRPr/>
          </a:p>
          <a:p>
            <a:r>
              <a:t>Sources: My removal results; paper pp. 5–8; NIST exact binomial method (URL in notes).</a:t>
            </a:r>
          </a:p>
          <a:p>
            <a:r>
              <a:t>https://itl.nist.gov/div898/software/dataplot/refman2/auxillar/exacbino.htm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60357"/>
            <a:ext cx="10363200" cy="2860914"/>
          </a:xfrm>
        </p:spPr>
        <p:txBody>
          <a:bodyPr anchor="ctr">
            <a:normAutofit/>
          </a:bodyPr>
          <a:lstStyle>
            <a:lvl1pPr algn="ctr" latinLnBrk="0">
              <a:defRPr sz="4800" b="1">
                <a:latin typeface="+mn-lt"/>
              </a:defRPr>
            </a:lvl1pPr>
          </a:lstStyle>
          <a:p>
            <a:r>
              <a:rPr lang="en-US" altLang="ko-KR" dirty="0"/>
              <a:t>Click to edit Master title style</a:t>
            </a:r>
            <a:endParaRPr lang="en-US" dirty="0"/>
          </a:p>
        </p:txBody>
      </p:sp>
      <p:sp>
        <p:nvSpPr>
          <p:cNvPr id="3" name="Subtitle 2"/>
          <p:cNvSpPr>
            <a:spLocks noGrp="1"/>
          </p:cNvSpPr>
          <p:nvPr>
            <p:ph type="subTitle" idx="1"/>
          </p:nvPr>
        </p:nvSpPr>
        <p:spPr>
          <a:xfrm>
            <a:off x="1524000" y="4496847"/>
            <a:ext cx="9144000" cy="923795"/>
          </a:xfrm>
        </p:spPr>
        <p:txBody>
          <a:bodyPr anchor="ctr"/>
          <a:lstStyle>
            <a:lvl1pPr marL="0" indent="0" algn="ctr" latinLnBrk="0">
              <a:buNone/>
              <a:defRPr sz="24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ko-KR" dirty="0"/>
              <a:t>Click to edit Master subtitle style</a:t>
            </a:r>
            <a:endParaRPr lang="en-US" dirty="0"/>
          </a:p>
        </p:txBody>
      </p:sp>
      <p:sp>
        <p:nvSpPr>
          <p:cNvPr id="4" name="Slide Number Placeholder 3">
            <a:extLst>
              <a:ext uri="{FF2B5EF4-FFF2-40B4-BE49-F238E27FC236}">
                <a16:creationId xmlns:a16="http://schemas.microsoft.com/office/drawing/2014/main" id="{5A4858BD-5679-4D8B-ACBE-62584E1DBA6E}"/>
              </a:ext>
            </a:extLst>
          </p:cNvPr>
          <p:cNvSpPr>
            <a:spLocks noGrp="1"/>
          </p:cNvSpPr>
          <p:nvPr>
            <p:ph type="sldNum" sz="quarter" idx="10"/>
          </p:nvPr>
        </p:nvSpPr>
        <p:spPr/>
        <p:txBody>
          <a:bodyPr/>
          <a:lstStyle/>
          <a:p>
            <a:fld id="{41682832-8E71-44D5-AE4C-7B1B1C81AE98}" type="slidenum">
              <a:rPr lang="en-US" smtClean="0"/>
              <a:t>‹#›</a:t>
            </a:fld>
            <a:endParaRPr lang="en-US" dirty="0"/>
          </a:p>
        </p:txBody>
      </p:sp>
    </p:spTree>
    <p:extLst>
      <p:ext uri="{BB962C8B-B14F-4D97-AF65-F5344CB8AC3E}">
        <p14:creationId xmlns:p14="http://schemas.microsoft.com/office/powerpoint/2010/main" val="366004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4" name="직사각형 3"/>
          <p:cNvSpPr/>
          <p:nvPr/>
        </p:nvSpPr>
        <p:spPr>
          <a:xfrm>
            <a:off x="0" y="114300"/>
            <a:ext cx="12192000" cy="10096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800" dirty="0"/>
          </a:p>
        </p:txBody>
      </p:sp>
      <p:sp>
        <p:nvSpPr>
          <p:cNvPr id="2" name="Title 1"/>
          <p:cNvSpPr>
            <a:spLocks noGrp="1"/>
          </p:cNvSpPr>
          <p:nvPr>
            <p:ph type="title"/>
          </p:nvPr>
        </p:nvSpPr>
        <p:spPr>
          <a:xfrm>
            <a:off x="381000" y="176131"/>
            <a:ext cx="11353800" cy="774741"/>
          </a:xfrm>
        </p:spPr>
        <p:txBody>
          <a:bodyPr/>
          <a:lstStyle>
            <a:lvl1pPr latinLnBrk="0">
              <a:defRPr b="1">
                <a:solidFill>
                  <a:schemeClr val="bg1"/>
                </a:solidFill>
              </a:defRPr>
            </a:lvl1pPr>
          </a:lstStyle>
          <a:p>
            <a:r>
              <a:rPr lang="en-US" altLang="ko-KR" dirty="0"/>
              <a:t>Click to edit Master title style</a:t>
            </a:r>
            <a:endParaRPr lang="en-US" dirty="0"/>
          </a:p>
        </p:txBody>
      </p:sp>
      <p:sp>
        <p:nvSpPr>
          <p:cNvPr id="3" name="Content Placeholder 2"/>
          <p:cNvSpPr>
            <a:spLocks noGrp="1"/>
          </p:cNvSpPr>
          <p:nvPr>
            <p:ph idx="1"/>
          </p:nvPr>
        </p:nvSpPr>
        <p:spPr>
          <a:xfrm>
            <a:off x="381000" y="1185782"/>
            <a:ext cx="11353800" cy="5375943"/>
          </a:xfrm>
        </p:spPr>
        <p:txBody>
          <a:bodyPr/>
          <a:lstStyle>
            <a:lvl1pPr latinLnBrk="0">
              <a:defRPr/>
            </a:lvl1pPr>
            <a:lvl2pPr latinLnBrk="0">
              <a:defRPr/>
            </a:lvl2pPr>
            <a:lvl3pPr latinLnBrk="0">
              <a:defRPr/>
            </a:lvl3pPr>
            <a:lvl4pPr latinLnBrk="0">
              <a:defRPr/>
            </a:lvl4pPr>
            <a:lvl5pPr latinLnBrk="0">
              <a:defRPr/>
            </a:lvl5p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
        <p:nvSpPr>
          <p:cNvPr id="5" name="Slide Number Placeholder 4">
            <a:extLst>
              <a:ext uri="{FF2B5EF4-FFF2-40B4-BE49-F238E27FC236}">
                <a16:creationId xmlns:a16="http://schemas.microsoft.com/office/drawing/2014/main" id="{0B1FFB6C-254D-3193-EDF5-8D80D571E0AB}"/>
              </a:ext>
            </a:extLst>
          </p:cNvPr>
          <p:cNvSpPr>
            <a:spLocks noGrp="1"/>
          </p:cNvSpPr>
          <p:nvPr>
            <p:ph type="sldNum" sz="quarter" idx="10"/>
          </p:nvPr>
        </p:nvSpPr>
        <p:spPr/>
        <p:txBody>
          <a:bodyPr/>
          <a:lstStyle/>
          <a:p>
            <a:fld id="{41682832-8E71-44D5-AE4C-7B1B1C81AE98}" type="slidenum">
              <a:rPr lang="en-US" smtClean="0"/>
              <a:t>‹#›</a:t>
            </a:fld>
            <a:endParaRPr lang="en-US"/>
          </a:p>
        </p:txBody>
      </p:sp>
    </p:spTree>
    <p:extLst>
      <p:ext uri="{BB962C8B-B14F-4D97-AF65-F5344CB8AC3E}">
        <p14:creationId xmlns:p14="http://schemas.microsoft.com/office/powerpoint/2010/main" val="3140860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제목 및 내용">
    <p:spTree>
      <p:nvGrpSpPr>
        <p:cNvPr id="1" name=""/>
        <p:cNvGrpSpPr/>
        <p:nvPr/>
      </p:nvGrpSpPr>
      <p:grpSpPr>
        <a:xfrm>
          <a:off x="0" y="0"/>
          <a:ext cx="0" cy="0"/>
          <a:chOff x="0" y="0"/>
          <a:chExt cx="0" cy="0"/>
        </a:xfrm>
      </p:grpSpPr>
      <p:sp>
        <p:nvSpPr>
          <p:cNvPr id="4" name="직사각형 3"/>
          <p:cNvSpPr/>
          <p:nvPr/>
        </p:nvSpPr>
        <p:spPr>
          <a:xfrm>
            <a:off x="0" y="114299"/>
            <a:ext cx="12192000" cy="1363770"/>
          </a:xfrm>
          <a:prstGeom prst="rect">
            <a:avLst/>
          </a:prstGeom>
          <a:solidFill>
            <a:srgbClr val="64BAD7"/>
          </a:solidFill>
          <a:ln>
            <a:solidFill>
              <a:srgbClr val="00A7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800"/>
          </a:p>
        </p:txBody>
      </p:sp>
      <p:sp>
        <p:nvSpPr>
          <p:cNvPr id="2" name="Title 1"/>
          <p:cNvSpPr>
            <a:spLocks noGrp="1"/>
          </p:cNvSpPr>
          <p:nvPr>
            <p:ph type="title"/>
          </p:nvPr>
        </p:nvSpPr>
        <p:spPr/>
        <p:txBody>
          <a:bodyPr/>
          <a:lstStyle>
            <a:lvl1pPr>
              <a:defRPr b="1">
                <a:solidFill>
                  <a:schemeClr val="bg1"/>
                </a:solidFill>
              </a:defRPr>
            </a:lvl1pPr>
          </a:lstStyle>
          <a:p>
            <a:r>
              <a:rPr lang="en-US" altLang="ko-KR" dirty="0"/>
              <a:t>Click to edit Master title style</a:t>
            </a:r>
            <a:endParaRPr lang="en-US" dirty="0"/>
          </a:p>
        </p:txBody>
      </p:sp>
      <p:sp>
        <p:nvSpPr>
          <p:cNvPr id="3" name="Content Placeholder 2"/>
          <p:cNvSpPr>
            <a:spLocks noGrp="1"/>
          </p:cNvSpPr>
          <p:nvPr>
            <p:ph idx="1"/>
          </p:nvPr>
        </p:nvSpPr>
        <p:spPr/>
        <p:txBody>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Tree>
    <p:extLst>
      <p:ext uri="{BB962C8B-B14F-4D97-AF65-F5344CB8AC3E}">
        <p14:creationId xmlns:p14="http://schemas.microsoft.com/office/powerpoint/2010/main" val="3794932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제목 및 내용">
    <p:spTree>
      <p:nvGrpSpPr>
        <p:cNvPr id="1" name=""/>
        <p:cNvGrpSpPr/>
        <p:nvPr/>
      </p:nvGrpSpPr>
      <p:grpSpPr>
        <a:xfrm>
          <a:off x="0" y="0"/>
          <a:ext cx="0" cy="0"/>
          <a:chOff x="0" y="0"/>
          <a:chExt cx="0" cy="0"/>
        </a:xfrm>
      </p:grpSpPr>
      <p:sp>
        <p:nvSpPr>
          <p:cNvPr id="4" name="직사각형 3"/>
          <p:cNvSpPr/>
          <p:nvPr/>
        </p:nvSpPr>
        <p:spPr>
          <a:xfrm>
            <a:off x="0" y="114299"/>
            <a:ext cx="12192000" cy="1363770"/>
          </a:xfrm>
          <a:prstGeom prst="rect">
            <a:avLst/>
          </a:prstGeom>
          <a:solidFill>
            <a:schemeClr val="accent5">
              <a:lumMod val="75000"/>
            </a:schemeClr>
          </a:solidFill>
          <a:ln>
            <a:solidFill>
              <a:srgbClr val="5FC8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800"/>
          </a:p>
        </p:txBody>
      </p:sp>
      <p:sp>
        <p:nvSpPr>
          <p:cNvPr id="2" name="Title 1"/>
          <p:cNvSpPr>
            <a:spLocks noGrp="1"/>
          </p:cNvSpPr>
          <p:nvPr>
            <p:ph type="title"/>
          </p:nvPr>
        </p:nvSpPr>
        <p:spPr/>
        <p:txBody>
          <a:bodyPr/>
          <a:lstStyle>
            <a:lvl1pPr>
              <a:defRPr b="1">
                <a:solidFill>
                  <a:schemeClr val="bg1"/>
                </a:solidFill>
              </a:defRPr>
            </a:lvl1pPr>
          </a:lstStyle>
          <a:p>
            <a:r>
              <a:rPr lang="en-US" altLang="ko-KR" dirty="0"/>
              <a:t>Click to edit Master title style</a:t>
            </a:r>
            <a:endParaRPr lang="en-US" dirty="0"/>
          </a:p>
        </p:txBody>
      </p:sp>
      <p:sp>
        <p:nvSpPr>
          <p:cNvPr id="3" name="Content Placeholder 2"/>
          <p:cNvSpPr>
            <a:spLocks noGrp="1"/>
          </p:cNvSpPr>
          <p:nvPr>
            <p:ph idx="1"/>
          </p:nvPr>
        </p:nvSpPr>
        <p:spPr/>
        <p:txBody>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Tree>
    <p:extLst>
      <p:ext uri="{BB962C8B-B14F-4D97-AF65-F5344CB8AC3E}">
        <p14:creationId xmlns:p14="http://schemas.microsoft.com/office/powerpoint/2010/main" val="349269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3_제목 및 내용">
    <p:spTree>
      <p:nvGrpSpPr>
        <p:cNvPr id="1" name=""/>
        <p:cNvGrpSpPr/>
        <p:nvPr/>
      </p:nvGrpSpPr>
      <p:grpSpPr>
        <a:xfrm>
          <a:off x="0" y="0"/>
          <a:ext cx="0" cy="0"/>
          <a:chOff x="0" y="0"/>
          <a:chExt cx="0" cy="0"/>
        </a:xfrm>
      </p:grpSpPr>
      <p:sp>
        <p:nvSpPr>
          <p:cNvPr id="4" name="직사각형 3"/>
          <p:cNvSpPr/>
          <p:nvPr/>
        </p:nvSpPr>
        <p:spPr>
          <a:xfrm>
            <a:off x="0" y="114299"/>
            <a:ext cx="12192000" cy="1363770"/>
          </a:xfrm>
          <a:prstGeom prst="rect">
            <a:avLst/>
          </a:prstGeom>
          <a:solidFill>
            <a:srgbClr val="4AB78A"/>
          </a:solidFill>
          <a:ln>
            <a:solidFill>
              <a:srgbClr val="5F61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800"/>
          </a:p>
        </p:txBody>
      </p:sp>
      <p:sp>
        <p:nvSpPr>
          <p:cNvPr id="2" name="Title 1"/>
          <p:cNvSpPr>
            <a:spLocks noGrp="1"/>
          </p:cNvSpPr>
          <p:nvPr>
            <p:ph type="title"/>
          </p:nvPr>
        </p:nvSpPr>
        <p:spPr/>
        <p:txBody>
          <a:bodyPr/>
          <a:lstStyle>
            <a:lvl1pPr>
              <a:defRPr b="1">
                <a:solidFill>
                  <a:schemeClr val="bg1"/>
                </a:solidFill>
              </a:defRPr>
            </a:lvl1pPr>
          </a:lstStyle>
          <a:p>
            <a:r>
              <a:rPr lang="en-US" altLang="ko-KR" dirty="0"/>
              <a:t>Click to edit Master title style</a:t>
            </a:r>
            <a:endParaRPr lang="en-US" dirty="0"/>
          </a:p>
        </p:txBody>
      </p:sp>
      <p:sp>
        <p:nvSpPr>
          <p:cNvPr id="3" name="Content Placeholder 2"/>
          <p:cNvSpPr>
            <a:spLocks noGrp="1"/>
          </p:cNvSpPr>
          <p:nvPr>
            <p:ph idx="1"/>
          </p:nvPr>
        </p:nvSpPr>
        <p:spPr/>
        <p:txBody>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Tree>
    <p:extLst>
      <p:ext uri="{BB962C8B-B14F-4D97-AF65-F5344CB8AC3E}">
        <p14:creationId xmlns:p14="http://schemas.microsoft.com/office/powerpoint/2010/main" val="3025027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4"/>
            <a:ext cx="10515600" cy="2852737"/>
          </a:xfrm>
        </p:spPr>
        <p:txBody>
          <a:bodyPr anchor="b">
            <a:normAutofit/>
          </a:bodyPr>
          <a:lstStyle>
            <a:lvl1pPr>
              <a:defRPr sz="4400"/>
            </a:lvl1pPr>
          </a:lstStyle>
          <a:p>
            <a:r>
              <a:rPr lang="en-US" altLang="ko-KR" dirty="0"/>
              <a:t>Click to edit Master title style</a:t>
            </a:r>
            <a:endParaRPr lang="en-US" dirty="0"/>
          </a:p>
        </p:txBody>
      </p:sp>
      <p:sp>
        <p:nvSpPr>
          <p:cNvPr id="3" name="Text Placeholder 2"/>
          <p:cNvSpPr>
            <a:spLocks noGrp="1"/>
          </p:cNvSpPr>
          <p:nvPr>
            <p:ph type="body" idx="1"/>
          </p:nvPr>
        </p:nvSpPr>
        <p:spPr>
          <a:xfrm>
            <a:off x="831851" y="4589469"/>
            <a:ext cx="10515600" cy="1500187"/>
          </a:xfrm>
        </p:spPr>
        <p:txBody>
          <a:bodyPr/>
          <a:lstStyle>
            <a:lvl1pPr marL="0" indent="0">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ltLang="ko-KR" dirty="0"/>
              <a:t>Click to edit Master text styles</a:t>
            </a:r>
          </a:p>
        </p:txBody>
      </p:sp>
    </p:spTree>
    <p:extLst>
      <p:ext uri="{BB962C8B-B14F-4D97-AF65-F5344CB8AC3E}">
        <p14:creationId xmlns:p14="http://schemas.microsoft.com/office/powerpoint/2010/main" val="372961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t>Click to edit Master title style</a:t>
            </a:r>
            <a:endParaRPr lang="en-US" dirty="0"/>
          </a:p>
        </p:txBody>
      </p:sp>
      <p:sp>
        <p:nvSpPr>
          <p:cNvPr id="3" name="Content Placeholder 2"/>
          <p:cNvSpPr>
            <a:spLocks noGrp="1"/>
          </p:cNvSpPr>
          <p:nvPr>
            <p:ph sz="half" idx="1"/>
          </p:nvPr>
        </p:nvSpPr>
        <p:spPr>
          <a:xfrm>
            <a:off x="838200" y="1825625"/>
            <a:ext cx="5181600" cy="4825696"/>
          </a:xfrm>
        </p:spPr>
        <p:txBody>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
        <p:nvSpPr>
          <p:cNvPr id="4" name="Content Placeholder 3"/>
          <p:cNvSpPr>
            <a:spLocks noGrp="1"/>
          </p:cNvSpPr>
          <p:nvPr>
            <p:ph sz="half" idx="2"/>
          </p:nvPr>
        </p:nvSpPr>
        <p:spPr>
          <a:xfrm>
            <a:off x="6172200" y="1825625"/>
            <a:ext cx="5181600" cy="4825696"/>
          </a:xfrm>
        </p:spPr>
        <p:txBody>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Tree>
    <p:extLst>
      <p:ext uri="{BB962C8B-B14F-4D97-AF65-F5344CB8AC3E}">
        <p14:creationId xmlns:p14="http://schemas.microsoft.com/office/powerpoint/2010/main" val="4267636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839788" y="713989"/>
            <a:ext cx="10515600" cy="976705"/>
          </a:xfrm>
        </p:spPr>
        <p:txBody>
          <a:bodyPr/>
          <a:lstStyle/>
          <a:p>
            <a:r>
              <a:rPr lang="en-US" altLang="ko-KR" dirty="0"/>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latinLnBrk="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ltLang="ko-KR" dirty="0"/>
              <a:t>Click to edit Master text styles</a:t>
            </a:r>
          </a:p>
        </p:txBody>
      </p:sp>
      <p:sp>
        <p:nvSpPr>
          <p:cNvPr id="4" name="Content Placeholder 3"/>
          <p:cNvSpPr>
            <a:spLocks noGrp="1"/>
          </p:cNvSpPr>
          <p:nvPr>
            <p:ph sz="half" idx="2"/>
          </p:nvPr>
        </p:nvSpPr>
        <p:spPr>
          <a:xfrm>
            <a:off x="839789" y="2505075"/>
            <a:ext cx="5157787" cy="4146246"/>
          </a:xfrm>
        </p:spPr>
        <p:txBody>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
        <p:nvSpPr>
          <p:cNvPr id="5" name="Text Placeholder 4"/>
          <p:cNvSpPr>
            <a:spLocks noGrp="1"/>
          </p:cNvSpPr>
          <p:nvPr>
            <p:ph type="body" sz="quarter" idx="3"/>
          </p:nvPr>
        </p:nvSpPr>
        <p:spPr>
          <a:xfrm>
            <a:off x="6172203" y="1681163"/>
            <a:ext cx="5183188" cy="823912"/>
          </a:xfrm>
        </p:spPr>
        <p:txBody>
          <a:bodyPr anchor="b"/>
          <a:lstStyle>
            <a:lvl1pPr marL="0" indent="0" latinLnBrk="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ltLang="ko-KR" dirty="0"/>
              <a:t>Click to edit Master text styles</a:t>
            </a:r>
          </a:p>
        </p:txBody>
      </p:sp>
      <p:sp>
        <p:nvSpPr>
          <p:cNvPr id="6" name="Content Placeholder 5"/>
          <p:cNvSpPr>
            <a:spLocks noGrp="1"/>
          </p:cNvSpPr>
          <p:nvPr>
            <p:ph sz="quarter" idx="4"/>
          </p:nvPr>
        </p:nvSpPr>
        <p:spPr>
          <a:xfrm>
            <a:off x="6172203" y="2505075"/>
            <a:ext cx="5183188" cy="4146246"/>
          </a:xfrm>
        </p:spPr>
        <p:txBody>
          <a:bodyPr/>
          <a:lstStyle>
            <a:lvl3pPr latinLnBrk="0">
              <a:defRPr/>
            </a:lvl3p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Tree>
    <p:extLst>
      <p:ext uri="{BB962C8B-B14F-4D97-AF65-F5344CB8AC3E}">
        <p14:creationId xmlns:p14="http://schemas.microsoft.com/office/powerpoint/2010/main" val="1428848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백지">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523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31_제목 및 내용">
    <p:spTree>
      <p:nvGrpSpPr>
        <p:cNvPr id="1" name=""/>
        <p:cNvGrpSpPr/>
        <p:nvPr/>
      </p:nvGrpSpPr>
      <p:grpSpPr>
        <a:xfrm>
          <a:off x="0" y="0"/>
          <a:ext cx="0" cy="0"/>
          <a:chOff x="0" y="0"/>
          <a:chExt cx="0" cy="0"/>
        </a:xfrm>
      </p:grpSpPr>
      <p:pic>
        <p:nvPicPr>
          <p:cNvPr id="3" name="내용 개체 틀 4" descr="ppt상단.png"/>
          <p:cNvPicPr>
            <a:picLocks noChangeAspect="1"/>
          </p:cNvPicPr>
          <p:nvPr/>
        </p:nvPicPr>
        <p:blipFill>
          <a:blip r:embed="rId2"/>
          <a:srcRect t="61540"/>
          <a:stretch>
            <a:fillRect/>
          </a:stretch>
        </p:blipFill>
        <p:spPr bwMode="auto">
          <a:xfrm>
            <a:off x="0" y="6500814"/>
            <a:ext cx="12192000" cy="357187"/>
          </a:xfrm>
          <a:prstGeom prst="rect">
            <a:avLst/>
          </a:prstGeom>
          <a:noFill/>
          <a:ln w="9525">
            <a:noFill/>
            <a:miter lim="800000"/>
            <a:headEnd/>
            <a:tailEnd/>
          </a:ln>
        </p:spPr>
      </p:pic>
      <p:pic>
        <p:nvPicPr>
          <p:cNvPr id="4" name="내용 개체 틀 4" descr="ppt상단.png"/>
          <p:cNvPicPr>
            <a:picLocks noChangeAspect="1"/>
          </p:cNvPicPr>
          <p:nvPr/>
        </p:nvPicPr>
        <p:blipFill>
          <a:blip r:embed="rId2"/>
          <a:srcRect/>
          <a:stretch>
            <a:fillRect/>
          </a:stretch>
        </p:blipFill>
        <p:spPr bwMode="auto">
          <a:xfrm>
            <a:off x="0" y="0"/>
            <a:ext cx="12192000" cy="928688"/>
          </a:xfrm>
          <a:prstGeom prst="rect">
            <a:avLst/>
          </a:prstGeom>
          <a:noFill/>
          <a:ln w="9525">
            <a:noFill/>
            <a:miter lim="800000"/>
            <a:headEnd/>
            <a:tailEnd/>
          </a:ln>
        </p:spPr>
      </p:pic>
      <p:pic>
        <p:nvPicPr>
          <p:cNvPr id="6" name="그림 15" descr="logo_w02.png"/>
          <p:cNvPicPr>
            <a:picLocks noChangeAspect="1"/>
          </p:cNvPicPr>
          <p:nvPr/>
        </p:nvPicPr>
        <p:blipFill>
          <a:blip r:embed="rId3"/>
          <a:srcRect/>
          <a:stretch>
            <a:fillRect/>
          </a:stretch>
        </p:blipFill>
        <p:spPr bwMode="auto">
          <a:xfrm>
            <a:off x="9810751" y="6583364"/>
            <a:ext cx="2205567" cy="250825"/>
          </a:xfrm>
          <a:prstGeom prst="rect">
            <a:avLst/>
          </a:prstGeom>
          <a:noFill/>
          <a:ln w="9525">
            <a:noFill/>
            <a:miter lim="800000"/>
            <a:headEnd/>
            <a:tailEnd/>
          </a:ln>
        </p:spPr>
      </p:pic>
      <p:pic>
        <p:nvPicPr>
          <p:cNvPr id="7" name="내용 개체 틀 4" descr="ppt상단.png"/>
          <p:cNvPicPr>
            <a:picLocks noChangeAspect="1"/>
          </p:cNvPicPr>
          <p:nvPr/>
        </p:nvPicPr>
        <p:blipFill>
          <a:blip r:embed="rId2"/>
          <a:srcRect t="61540"/>
          <a:stretch>
            <a:fillRect/>
          </a:stretch>
        </p:blipFill>
        <p:spPr bwMode="auto">
          <a:xfrm>
            <a:off x="0" y="6500814"/>
            <a:ext cx="12192000" cy="357187"/>
          </a:xfrm>
          <a:prstGeom prst="rect">
            <a:avLst/>
          </a:prstGeom>
          <a:noFill/>
          <a:ln w="9525">
            <a:noFill/>
            <a:miter lim="800000"/>
            <a:headEnd/>
            <a:tailEnd/>
          </a:ln>
        </p:spPr>
      </p:pic>
      <p:pic>
        <p:nvPicPr>
          <p:cNvPr id="8" name="내용 개체 틀 4" descr="ppt상단.png"/>
          <p:cNvPicPr>
            <a:picLocks noChangeAspect="1"/>
          </p:cNvPicPr>
          <p:nvPr/>
        </p:nvPicPr>
        <p:blipFill>
          <a:blip r:embed="rId2"/>
          <a:srcRect/>
          <a:stretch>
            <a:fillRect/>
          </a:stretch>
        </p:blipFill>
        <p:spPr bwMode="auto">
          <a:xfrm>
            <a:off x="0" y="0"/>
            <a:ext cx="12192000" cy="928688"/>
          </a:xfrm>
          <a:prstGeom prst="rect">
            <a:avLst/>
          </a:prstGeom>
          <a:noFill/>
          <a:ln w="9525">
            <a:noFill/>
            <a:miter lim="800000"/>
            <a:headEnd/>
            <a:tailEnd/>
          </a:ln>
        </p:spPr>
      </p:pic>
      <p:sp>
        <p:nvSpPr>
          <p:cNvPr id="11" name="텍스트 개체 틀 10"/>
          <p:cNvSpPr>
            <a:spLocks noGrp="1"/>
          </p:cNvSpPr>
          <p:nvPr>
            <p:ph type="body" sz="quarter" idx="10"/>
          </p:nvPr>
        </p:nvSpPr>
        <p:spPr>
          <a:xfrm>
            <a:off x="0" y="142876"/>
            <a:ext cx="12192000" cy="642918"/>
          </a:xfrm>
          <a:prstGeom prst="rect">
            <a:avLst/>
          </a:prstGeom>
        </p:spPr>
        <p:txBody>
          <a:bodyPr lIns="360000"/>
          <a:lstStyle>
            <a:lvl1pPr>
              <a:buNone/>
              <a:defRPr spc="300">
                <a:solidFill>
                  <a:schemeClr val="bg1">
                    <a:lumMod val="95000"/>
                  </a:schemeClr>
                </a:solidFill>
                <a:effectLst>
                  <a:outerShdw blurRad="38100" dist="38100" dir="2700000" algn="tl">
                    <a:srgbClr val="000000">
                      <a:alpha val="43137"/>
                    </a:srgbClr>
                  </a:outerShdw>
                </a:effectLst>
                <a:latin typeface="HY견고딕" pitchFamily="18" charset="-127"/>
                <a:ea typeface="HY견고딕" pitchFamily="18" charset="-127"/>
              </a:defRPr>
            </a:lvl1pPr>
          </a:lstStyle>
          <a:p>
            <a:pPr lvl="0"/>
            <a:r>
              <a:rPr lang="en-US" altLang="ko-KR" dirty="0"/>
              <a:t>Click to edit Master text styles</a:t>
            </a:r>
          </a:p>
        </p:txBody>
      </p:sp>
      <p:sp>
        <p:nvSpPr>
          <p:cNvPr id="15" name="날짜 개체 틀 14"/>
          <p:cNvSpPr>
            <a:spLocks noGrp="1"/>
          </p:cNvSpPr>
          <p:nvPr>
            <p:ph type="dt" sz="half" idx="11"/>
          </p:nvPr>
        </p:nvSpPr>
        <p:spPr>
          <a:xfrm>
            <a:off x="609600" y="6356351"/>
            <a:ext cx="2844800" cy="365125"/>
          </a:xfrm>
          <a:prstGeom prst="rect">
            <a:avLst/>
          </a:prstGeom>
        </p:spPr>
        <p:txBody>
          <a:bodyPr/>
          <a:lstStyle/>
          <a:p>
            <a:endParaRPr lang="ko-KR" altLang="en-US" dirty="0"/>
          </a:p>
        </p:txBody>
      </p:sp>
      <p:sp>
        <p:nvSpPr>
          <p:cNvPr id="17" name="슬라이드 번호 개체 틀 16"/>
          <p:cNvSpPr>
            <a:spLocks noGrp="1"/>
          </p:cNvSpPr>
          <p:nvPr>
            <p:ph type="sldNum" sz="quarter" idx="13"/>
          </p:nvPr>
        </p:nvSpPr>
        <p:spPr>
          <a:xfrm>
            <a:off x="4691360" y="6492876"/>
            <a:ext cx="2844800" cy="365125"/>
          </a:xfrm>
          <a:prstGeom prst="rect">
            <a:avLst/>
          </a:prstGeom>
        </p:spPr>
        <p:txBody>
          <a:bodyPr/>
          <a:lstStyle>
            <a:lvl1pPr algn="ctr">
              <a:defRPr sz="1400" b="1">
                <a:solidFill>
                  <a:schemeClr val="bg1"/>
                </a:solidFill>
              </a:defRPr>
            </a:lvl1pPr>
          </a:lstStyle>
          <a:p>
            <a:fld id="{7CE2AA4F-8782-4078-A252-98099D7A2F13}" type="slidenum">
              <a:rPr lang="ko-KR" altLang="en-US" smtClean="0"/>
              <a:t>‹#›</a:t>
            </a:fld>
            <a:endParaRPr lang="ko-KR" altLang="en-US" dirty="0"/>
          </a:p>
        </p:txBody>
      </p:sp>
    </p:spTree>
    <p:extLst>
      <p:ext uri="{BB962C8B-B14F-4D97-AF65-F5344CB8AC3E}">
        <p14:creationId xmlns:p14="http://schemas.microsoft.com/office/powerpoint/2010/main" val="42064121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t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63630"/>
            <a:ext cx="10515600" cy="774741"/>
          </a:xfrm>
          <a:prstGeom prst="rect">
            <a:avLst/>
          </a:prstGeom>
          <a:ln>
            <a:noFill/>
          </a:ln>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38200" y="1552532"/>
            <a:ext cx="10515600" cy="5009192"/>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altLang="ko-KR" dirty="0"/>
          </a:p>
        </p:txBody>
      </p:sp>
      <p:sp>
        <p:nvSpPr>
          <p:cNvPr id="8" name="직사각형 7"/>
          <p:cNvSpPr/>
          <p:nvPr/>
        </p:nvSpPr>
        <p:spPr>
          <a:xfrm>
            <a:off x="3" y="-4803"/>
            <a:ext cx="5461348" cy="1223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ko-KR" altLang="en-US" sz="1800"/>
          </a:p>
        </p:txBody>
      </p:sp>
      <p:sp>
        <p:nvSpPr>
          <p:cNvPr id="9" name="직사각형 8"/>
          <p:cNvSpPr/>
          <p:nvPr/>
        </p:nvSpPr>
        <p:spPr>
          <a:xfrm>
            <a:off x="5461349" y="-4803"/>
            <a:ext cx="2304789" cy="122343"/>
          </a:xfrm>
          <a:prstGeom prst="rect">
            <a:avLst/>
          </a:prstGeom>
          <a:solidFill>
            <a:srgbClr val="64BA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ko-KR" altLang="en-US" sz="1800"/>
          </a:p>
        </p:txBody>
      </p:sp>
      <p:sp>
        <p:nvSpPr>
          <p:cNvPr id="13" name="직사각형 12"/>
          <p:cNvSpPr/>
          <p:nvPr/>
        </p:nvSpPr>
        <p:spPr>
          <a:xfrm>
            <a:off x="0" y="6591434"/>
            <a:ext cx="12192000" cy="262254"/>
          </a:xfrm>
          <a:prstGeom prst="rect">
            <a:avLst/>
          </a:prstGeom>
          <a:solidFill>
            <a:schemeClr val="accent1">
              <a:lumMod val="75000"/>
            </a:schemeClr>
          </a:solidFill>
          <a:ln>
            <a:solidFill>
              <a:srgbClr val="006F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800" dirty="0"/>
          </a:p>
        </p:txBody>
      </p:sp>
      <p:sp>
        <p:nvSpPr>
          <p:cNvPr id="10" name="직사각형 9"/>
          <p:cNvSpPr/>
          <p:nvPr/>
        </p:nvSpPr>
        <p:spPr>
          <a:xfrm>
            <a:off x="7766140" y="-4803"/>
            <a:ext cx="2304789" cy="122343"/>
          </a:xfrm>
          <a:prstGeom prst="rect">
            <a:avLst/>
          </a:prstGeom>
          <a:solidFill>
            <a:srgbClr val="8FC6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ko-KR" altLang="en-US" sz="1800"/>
          </a:p>
        </p:txBody>
      </p:sp>
      <p:sp>
        <p:nvSpPr>
          <p:cNvPr id="11" name="직사각형 10"/>
          <p:cNvSpPr/>
          <p:nvPr/>
        </p:nvSpPr>
        <p:spPr>
          <a:xfrm>
            <a:off x="10064576" y="-4803"/>
            <a:ext cx="2127423" cy="122343"/>
          </a:xfrm>
          <a:prstGeom prst="rect">
            <a:avLst/>
          </a:prstGeom>
          <a:solidFill>
            <a:srgbClr val="4AB7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ko-KR" altLang="en-US" sz="1800"/>
          </a:p>
        </p:txBody>
      </p:sp>
      <p:sp>
        <p:nvSpPr>
          <p:cNvPr id="4" name="TextBox 3"/>
          <p:cNvSpPr txBox="1"/>
          <p:nvPr/>
        </p:nvSpPr>
        <p:spPr>
          <a:xfrm>
            <a:off x="1350364" y="6561728"/>
            <a:ext cx="4580678" cy="307777"/>
          </a:xfrm>
          <a:prstGeom prst="rect">
            <a:avLst/>
          </a:prstGeom>
          <a:noFill/>
        </p:spPr>
        <p:txBody>
          <a:bodyPr wrap="none" rtlCol="0">
            <a:spAutoFit/>
          </a:bodyPr>
          <a:lstStyle/>
          <a:p>
            <a:pPr algn="ctr"/>
            <a:r>
              <a:rPr kumimoji="1" lang="en-US" altLang="ko-KR" sz="1400" b="1" dirty="0">
                <a:ln>
                  <a:noFill/>
                </a:ln>
                <a:solidFill>
                  <a:schemeClr val="bg1"/>
                </a:solidFill>
              </a:rPr>
              <a:t>Distributed Cloud and Network Research Laboratory (DCN) </a:t>
            </a:r>
            <a:endParaRPr kumimoji="1" lang="ko-KR" altLang="en-US" sz="1400" b="1" dirty="0">
              <a:ln>
                <a:noFill/>
              </a:ln>
              <a:solidFill>
                <a:schemeClr val="bg1"/>
              </a:solidFill>
            </a:endParaRPr>
          </a:p>
        </p:txBody>
      </p:sp>
      <p:sp>
        <p:nvSpPr>
          <p:cNvPr id="14" name="직사각형 13"/>
          <p:cNvSpPr/>
          <p:nvPr/>
        </p:nvSpPr>
        <p:spPr>
          <a:xfrm>
            <a:off x="7579693" y="6591434"/>
            <a:ext cx="1420223" cy="262254"/>
          </a:xfrm>
          <a:prstGeom prst="rect">
            <a:avLst/>
          </a:prstGeom>
          <a:solidFill>
            <a:srgbClr val="64BA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800"/>
          </a:p>
        </p:txBody>
      </p:sp>
      <p:sp>
        <p:nvSpPr>
          <p:cNvPr id="15" name="직사각형 14"/>
          <p:cNvSpPr/>
          <p:nvPr/>
        </p:nvSpPr>
        <p:spPr>
          <a:xfrm>
            <a:off x="8999916" y="6591434"/>
            <a:ext cx="720435" cy="262254"/>
          </a:xfrm>
          <a:prstGeom prst="rect">
            <a:avLst/>
          </a:prstGeom>
          <a:solidFill>
            <a:srgbClr val="8FC6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800" dirty="0"/>
          </a:p>
        </p:txBody>
      </p:sp>
      <p:sp>
        <p:nvSpPr>
          <p:cNvPr id="16" name="직사각형 15"/>
          <p:cNvSpPr/>
          <p:nvPr/>
        </p:nvSpPr>
        <p:spPr>
          <a:xfrm>
            <a:off x="9720352" y="6591434"/>
            <a:ext cx="1029129" cy="262254"/>
          </a:xfrm>
          <a:prstGeom prst="rect">
            <a:avLst/>
          </a:prstGeom>
          <a:solidFill>
            <a:srgbClr val="4AB7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sz="1800"/>
          </a:p>
        </p:txBody>
      </p:sp>
      <p:sp>
        <p:nvSpPr>
          <p:cNvPr id="5" name="Slide Number Placeholder 4">
            <a:extLst>
              <a:ext uri="{FF2B5EF4-FFF2-40B4-BE49-F238E27FC236}">
                <a16:creationId xmlns:a16="http://schemas.microsoft.com/office/drawing/2014/main" id="{3EA897B5-3C98-1862-AA90-EDE59F097699}"/>
              </a:ext>
            </a:extLst>
          </p:cNvPr>
          <p:cNvSpPr>
            <a:spLocks noGrp="1"/>
          </p:cNvSpPr>
          <p:nvPr>
            <p:ph type="sldNum" sz="quarter" idx="4"/>
          </p:nvPr>
        </p:nvSpPr>
        <p:spPr>
          <a:xfrm>
            <a:off x="11723298" y="6267173"/>
            <a:ext cx="402714" cy="294551"/>
          </a:xfrm>
          <a:prstGeom prst="rect">
            <a:avLst/>
          </a:prstGeom>
        </p:spPr>
        <p:txBody>
          <a:bodyPr vert="horz" lIns="91440" tIns="45720" rIns="91440" bIns="45720" rtlCol="0" anchor="ctr"/>
          <a:lstStyle>
            <a:lvl1pPr algn="r">
              <a:defRPr sz="1200">
                <a:solidFill>
                  <a:schemeClr val="tx1">
                    <a:tint val="82000"/>
                  </a:schemeClr>
                </a:solidFill>
              </a:defRPr>
            </a:lvl1pPr>
          </a:lstStyle>
          <a:p>
            <a:fld id="{41682832-8E71-44D5-AE4C-7B1B1C81AE98}" type="slidenum">
              <a:rPr lang="en-US" smtClean="0"/>
              <a:t>‹#›</a:t>
            </a:fld>
            <a:endParaRPr lang="en-US" dirty="0"/>
          </a:p>
        </p:txBody>
      </p:sp>
      <p:sp>
        <p:nvSpPr>
          <p:cNvPr id="7" name="TextBox 6">
            <a:extLst>
              <a:ext uri="{FF2B5EF4-FFF2-40B4-BE49-F238E27FC236}">
                <a16:creationId xmlns:a16="http://schemas.microsoft.com/office/drawing/2014/main" id="{B5FBFBE6-8FCD-835A-C7AB-C3011B43A393}"/>
              </a:ext>
            </a:extLst>
          </p:cNvPr>
          <p:cNvSpPr txBox="1"/>
          <p:nvPr userDrawn="1"/>
        </p:nvSpPr>
        <p:spPr>
          <a:xfrm>
            <a:off x="1350360" y="6561728"/>
            <a:ext cx="4580678" cy="307777"/>
          </a:xfrm>
          <a:prstGeom prst="rect">
            <a:avLst/>
          </a:prstGeom>
          <a:noFill/>
        </p:spPr>
        <p:txBody>
          <a:bodyPr wrap="none" rtlCol="0">
            <a:spAutoFit/>
          </a:bodyPr>
          <a:lstStyle/>
          <a:p>
            <a:pPr algn="ctr"/>
            <a:r>
              <a:rPr kumimoji="1" lang="en-US" altLang="ko-KR" sz="1400" b="1" dirty="0">
                <a:ln>
                  <a:noFill/>
                </a:ln>
                <a:solidFill>
                  <a:schemeClr val="bg1"/>
                </a:solidFill>
              </a:rPr>
              <a:t>Distributed Cloud and Network Research Laboratory (DCN) </a:t>
            </a:r>
            <a:endParaRPr kumimoji="1" lang="ko-KR" altLang="en-US" sz="1400" b="1" dirty="0">
              <a:ln>
                <a:noFill/>
              </a:ln>
              <a:solidFill>
                <a:schemeClr val="bg1"/>
              </a:solidFill>
            </a:endParaRPr>
          </a:p>
        </p:txBody>
      </p:sp>
      <p:pic>
        <p:nvPicPr>
          <p:cNvPr id="17" name="그림 5" descr="그리기이(가) 표시된 사진&#10;&#10;자동 생성된 설명">
            <a:extLst>
              <a:ext uri="{FF2B5EF4-FFF2-40B4-BE49-F238E27FC236}">
                <a16:creationId xmlns:a16="http://schemas.microsoft.com/office/drawing/2014/main" id="{6824A1CC-ED06-0B7F-EAB5-D503667D3E64}"/>
              </a:ext>
            </a:extLst>
          </p:cNvPr>
          <p:cNvPicPr>
            <a:picLocks noChangeAspect="1"/>
          </p:cNvPicPr>
          <p:nvPr userDrawn="1"/>
        </p:nvPicPr>
        <p:blipFill rotWithShape="1">
          <a:blip r:embed="rId12">
            <a:extLst>
              <a:ext uri="{28A0092B-C50C-407E-A947-70E740481C1C}">
                <a14:useLocalDpi xmlns:a14="http://schemas.microsoft.com/office/drawing/2010/main" val="0"/>
              </a:ext>
            </a:extLst>
          </a:blip>
          <a:srcRect r="2839"/>
          <a:stretch/>
        </p:blipFill>
        <p:spPr>
          <a:xfrm>
            <a:off x="9419566" y="117541"/>
            <a:ext cx="2772431" cy="822259"/>
          </a:xfrm>
          <a:prstGeom prst="rect">
            <a:avLst/>
          </a:prstGeom>
        </p:spPr>
      </p:pic>
    </p:spTree>
    <p:extLst>
      <p:ext uri="{BB962C8B-B14F-4D97-AF65-F5344CB8AC3E}">
        <p14:creationId xmlns:p14="http://schemas.microsoft.com/office/powerpoint/2010/main" val="946598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0" r:id="rId9"/>
    <p:sldLayoutId id="2147483675" r:id="rId10"/>
  </p:sldLayoutIdLst>
  <p:hf hdr="0" ftr="0" dt="0"/>
  <p:txStyles>
    <p:titleStyle>
      <a:lvl1pPr algn="l" defTabSz="914377" rtl="0" eaLnBrk="1" latinLnBrk="0" hangingPunct="1">
        <a:lnSpc>
          <a:spcPct val="90000"/>
        </a:lnSpc>
        <a:spcBef>
          <a:spcPct val="0"/>
        </a:spcBef>
        <a:buNone/>
        <a:defRPr sz="3600" kern="1200">
          <a:solidFill>
            <a:schemeClr val="tx1"/>
          </a:solidFill>
          <a:latin typeface="+mn-lt"/>
          <a:ea typeface="+mn-ea"/>
          <a:cs typeface="+mj-cs"/>
        </a:defRPr>
      </a:lvl1pPr>
    </p:titleStyle>
    <p:bodyStyle>
      <a:lvl1pPr marL="228594" indent="-228594" algn="l" defTabSz="914377" rtl="0" eaLnBrk="1" latinLnBrk="0" hangingPunct="1">
        <a:lnSpc>
          <a:spcPct val="100000"/>
        </a:lnSpc>
        <a:spcBef>
          <a:spcPts val="1000"/>
        </a:spcBef>
        <a:buFontTx/>
        <a:buBlip>
          <a:blip r:embed="rId13"/>
        </a:buBlip>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500"/>
        </a:spcBef>
        <a:buFontTx/>
        <a:buBlip>
          <a:blip r:embed="rId13"/>
        </a:buBlip>
        <a:defRPr sz="2200" kern="1200">
          <a:solidFill>
            <a:schemeClr val="tx1"/>
          </a:solidFill>
          <a:latin typeface="+mn-lt"/>
          <a:ea typeface="+mn-ea"/>
          <a:cs typeface="+mn-cs"/>
        </a:defRPr>
      </a:lvl2pPr>
      <a:lvl3pPr marL="1142971" indent="-228594" algn="l" defTabSz="914377" rtl="0" eaLnBrk="1" latinLnBrk="0" hangingPunct="1">
        <a:lnSpc>
          <a:spcPct val="100000"/>
        </a:lnSpc>
        <a:spcBef>
          <a:spcPts val="500"/>
        </a:spcBef>
        <a:buFontTx/>
        <a:buBlip>
          <a:blip r:embed="rId13"/>
        </a:buBlip>
        <a:defRPr sz="20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Tx/>
        <a:buBlip>
          <a:blip r:embed="rId13"/>
        </a:buBlip>
        <a:defRPr sz="1800" kern="1200">
          <a:solidFill>
            <a:schemeClr val="tx1"/>
          </a:solidFill>
          <a:latin typeface="+mn-lt"/>
          <a:ea typeface="+mn-ea"/>
          <a:cs typeface="+mn-cs"/>
        </a:defRPr>
      </a:lvl4pPr>
      <a:lvl5pPr marL="1828755" indent="0" algn="l" defTabSz="914377" rtl="0" eaLnBrk="1" latinLnBrk="0" hangingPunct="1">
        <a:lnSpc>
          <a:spcPct val="100000"/>
        </a:lnSpc>
        <a:spcBef>
          <a:spcPts val="500"/>
        </a:spcBef>
        <a:buFontTx/>
        <a:buNone/>
        <a:defRPr sz="1800" kern="1200">
          <a:solidFill>
            <a:schemeClr val="tx1"/>
          </a:solidFill>
          <a:latin typeface="+mn-lt"/>
          <a:ea typeface="+mn-ea"/>
          <a:cs typeface="+mn-cs"/>
        </a:defRPr>
      </a:lvl5pPr>
      <a:lvl6pPr marL="2514537"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1" hangingPunct="1">
        <a:defRPr sz="1800" kern="1200">
          <a:solidFill>
            <a:schemeClr val="tx1"/>
          </a:solidFill>
          <a:latin typeface="+mn-lt"/>
          <a:ea typeface="+mn-ea"/>
          <a:cs typeface="+mn-cs"/>
        </a:defRPr>
      </a:lvl1pPr>
      <a:lvl2pPr marL="457189" algn="l" defTabSz="914377" rtl="0" eaLnBrk="1" latinLnBrk="1" hangingPunct="1">
        <a:defRPr sz="1800" kern="1200">
          <a:solidFill>
            <a:schemeClr val="tx1"/>
          </a:solidFill>
          <a:latin typeface="+mn-lt"/>
          <a:ea typeface="+mn-ea"/>
          <a:cs typeface="+mn-cs"/>
        </a:defRPr>
      </a:lvl2pPr>
      <a:lvl3pPr marL="914377" algn="l" defTabSz="914377" rtl="0" eaLnBrk="1" latinLnBrk="1" hangingPunct="1">
        <a:defRPr sz="1800" kern="1200">
          <a:solidFill>
            <a:schemeClr val="tx1"/>
          </a:solidFill>
          <a:latin typeface="+mn-lt"/>
          <a:ea typeface="+mn-ea"/>
          <a:cs typeface="+mn-cs"/>
        </a:defRPr>
      </a:lvl3pPr>
      <a:lvl4pPr marL="1371566" algn="l" defTabSz="914377" rtl="0" eaLnBrk="1" latinLnBrk="1" hangingPunct="1">
        <a:defRPr sz="1800" kern="1200">
          <a:solidFill>
            <a:schemeClr val="tx1"/>
          </a:solidFill>
          <a:latin typeface="+mn-lt"/>
          <a:ea typeface="+mn-ea"/>
          <a:cs typeface="+mn-cs"/>
        </a:defRPr>
      </a:lvl4pPr>
      <a:lvl5pPr marL="1828754" algn="l" defTabSz="914377" rtl="0" eaLnBrk="1" latinLnBrk="1" hangingPunct="1">
        <a:defRPr sz="1800" kern="1200">
          <a:solidFill>
            <a:schemeClr val="tx1"/>
          </a:solidFill>
          <a:latin typeface="+mn-lt"/>
          <a:ea typeface="+mn-ea"/>
          <a:cs typeface="+mn-cs"/>
        </a:defRPr>
      </a:lvl5pPr>
      <a:lvl6pPr marL="2285943" algn="l" defTabSz="914377" rtl="0" eaLnBrk="1" latinLnBrk="1" hangingPunct="1">
        <a:defRPr sz="1800" kern="1200">
          <a:solidFill>
            <a:schemeClr val="tx1"/>
          </a:solidFill>
          <a:latin typeface="+mn-lt"/>
          <a:ea typeface="+mn-ea"/>
          <a:cs typeface="+mn-cs"/>
        </a:defRPr>
      </a:lvl6pPr>
      <a:lvl7pPr marL="2743131" algn="l" defTabSz="914377" rtl="0" eaLnBrk="1" latinLnBrk="1" hangingPunct="1">
        <a:defRPr sz="1800" kern="1200">
          <a:solidFill>
            <a:schemeClr val="tx1"/>
          </a:solidFill>
          <a:latin typeface="+mn-lt"/>
          <a:ea typeface="+mn-ea"/>
          <a:cs typeface="+mn-cs"/>
        </a:defRPr>
      </a:lvl7pPr>
      <a:lvl8pPr marL="3200320" algn="l" defTabSz="914377" rtl="0" eaLnBrk="1" latinLnBrk="1" hangingPunct="1">
        <a:defRPr sz="1800" kern="1200">
          <a:solidFill>
            <a:schemeClr val="tx1"/>
          </a:solidFill>
          <a:latin typeface="+mn-lt"/>
          <a:ea typeface="+mn-ea"/>
          <a:cs typeface="+mn-cs"/>
        </a:defRPr>
      </a:lvl8pPr>
      <a:lvl9pPr marL="3657509" algn="l" defTabSz="914377"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1400" b="1" spc="60" dirty="0">
                <a:solidFill>
                  <a:srgbClr val="0F766E"/>
                </a:solidFill>
                <a:latin typeface="Calibri"/>
                <a:cs typeface="Calibri"/>
              </a:rPr>
              <a:t>MY MAIN CLAIM</a:t>
            </a:r>
            <a:endParaRPr lang="en-US" sz="1400" dirty="0">
              <a:latin typeface="Calibri"/>
            </a:endParaRPr>
          </a:p>
        </p:txBody>
      </p:sp>
      <p:sp>
        <p:nvSpPr>
          <p:cNvPr id="3" name="TextBox 2"/>
          <p:cNvSpPr txBox="1"/>
          <p:nvPr/>
        </p:nvSpPr>
        <p:spPr>
          <a:xfrm>
            <a:off x="533400" y="609600"/>
            <a:ext cx="8763000" cy="1219200"/>
          </a:xfrm>
          <a:prstGeom prst="rect">
            <a:avLst/>
          </a:prstGeom>
          <a:noFill/>
        </p:spPr>
        <p:txBody>
          <a:bodyPr wrap="square" lIns="0" tIns="0" rIns="0" bIns="0" anchor="t">
            <a:noAutofit/>
          </a:bodyPr>
          <a:lstStyle/>
          <a:p>
            <a:pPr algn="l">
              <a:lnSpc>
                <a:spcPct val="90000"/>
              </a:lnSpc>
              <a:spcBef>
                <a:spcPts val="0"/>
              </a:spcBef>
              <a:spcAft>
                <a:spcPts val="0"/>
              </a:spcAft>
              <a:buNone/>
            </a:pPr>
            <a:r>
              <a:rPr lang="en-US" sz="4000" b="1" dirty="0">
                <a:solidFill>
                  <a:srgbClr val="000000"/>
                </a:solidFill>
                <a:latin typeface="Calibri"/>
                <a:cs typeface="Calibri"/>
              </a:rPr>
              <a:t>Gorilla: API documents help.</a:t>
            </a:r>
            <a:endParaRPr lang="en-US" sz="4000" dirty="0">
              <a:latin typeface="Calibri"/>
            </a:endParaRPr>
          </a:p>
          <a:p>
            <a:pPr algn="l">
              <a:lnSpc>
                <a:spcPct val="90000"/>
              </a:lnSpc>
              <a:spcBef>
                <a:spcPts val="0"/>
              </a:spcBef>
              <a:spcAft>
                <a:spcPts val="0"/>
              </a:spcAft>
              <a:buNone/>
            </a:pPr>
            <a:r>
              <a:rPr lang="en-US" sz="4000" b="1" dirty="0">
                <a:solidFill>
                  <a:srgbClr val="0F766E"/>
                </a:solidFill>
                <a:latin typeface="Calibri"/>
                <a:cs typeface="Calibri"/>
              </a:rPr>
              <a:t>The call still needs checking.</a:t>
            </a:r>
            <a:endParaRPr lang="en-US" sz="40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none" lIns="0" tIns="0" rIns="0" bIns="0" anchor="t">
            <a:noAutofit/>
          </a:bodyPr>
          <a:lstStyle/>
          <a:p>
            <a:pPr algn="l">
              <a:lnSpc>
                <a:spcPct val="100000"/>
              </a:lnSpc>
              <a:spcBef>
                <a:spcPts val="0"/>
              </a:spcBef>
              <a:spcAft>
                <a:spcPts val="0"/>
              </a:spcAft>
              <a:buNone/>
            </a:pPr>
            <a:r>
              <a:rPr lang="en-US" sz="1000" b="0" dirty="0">
                <a:solidFill>
                  <a:srgbClr val="000000"/>
                </a:solidFill>
                <a:latin typeface="Calibri"/>
                <a:cs typeface="Calibri"/>
              </a:rPr>
              <a:t>Paper pp. 1, 5; local notebook and saved experiment results.</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none" lIns="0" tIns="0" rIns="0" bIns="0" anchor="t">
            <a:noAutofit/>
          </a:bodyPr>
          <a:lstStyle/>
          <a:p>
            <a:pPr algn="r">
              <a:lnSpc>
                <a:spcPct val="100000"/>
              </a:lnSpc>
              <a:spcBef>
                <a:spcPts val="0"/>
              </a:spcBef>
              <a:spcAft>
                <a:spcPts val="0"/>
              </a:spcAft>
              <a:buNone/>
            </a:pPr>
            <a:r>
              <a:rPr lang="en-US" sz="1000" b="0" dirty="0">
                <a:solidFill>
                  <a:srgbClr val="000000"/>
                </a:solidFill>
                <a:latin typeface="Calibri"/>
                <a:cs typeface="Calibri"/>
              </a:rPr>
              <a:t>01 / 12</a:t>
            </a:r>
            <a:endParaRPr lang="en-US" sz="1000" dirty="0">
              <a:latin typeface="Calibri"/>
            </a:endParaRPr>
          </a:p>
        </p:txBody>
      </p:sp>
      <p:sp>
        <p:nvSpPr>
          <p:cNvPr id="8" name="TextBox 7"/>
          <p:cNvSpPr txBox="1"/>
          <p:nvPr/>
        </p:nvSpPr>
        <p:spPr>
          <a:xfrm>
            <a:off x="533400" y="1905000"/>
            <a:ext cx="11125200" cy="3556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2000" b="0" dirty="0">
                <a:solidFill>
                  <a:srgbClr val="000000"/>
                </a:solidFill>
                <a:latin typeface="Calibri"/>
                <a:cs typeface="Calibri"/>
              </a:rPr>
              <a:t>A paper analysis + my Kubernetes experiment</a:t>
            </a:r>
            <a:r>
              <a:rPr lang="en-US" sz="2000" b="0" dirty="0">
                <a:solidFill>
                  <a:srgbClr val="CBD5E1"/>
                </a:solidFill>
                <a:latin typeface="Calibri"/>
                <a:cs typeface="Calibri"/>
              </a:rPr>
              <a:t>   |   </a:t>
            </a:r>
            <a:r>
              <a:rPr lang="en-US" sz="2000" b="1" dirty="0">
                <a:solidFill>
                  <a:srgbClr val="2563EB"/>
                </a:solidFill>
                <a:latin typeface="Calibri"/>
                <a:cs typeface="Calibri"/>
              </a:rPr>
              <a:t>Gorilla • NeurIPS 2024</a:t>
            </a:r>
            <a:endParaRPr lang="en-US" sz="2000" dirty="0">
              <a:latin typeface="Calibri"/>
            </a:endParaRPr>
          </a:p>
        </p:txBody>
      </p:sp>
      <p:sp>
        <p:nvSpPr>
          <p:cNvPr id="9" name="Rounded Rectangle 8"/>
          <p:cNvSpPr/>
          <p:nvPr/>
        </p:nvSpPr>
        <p:spPr>
          <a:xfrm>
            <a:off x="533400" y="2641600"/>
            <a:ext cx="11125200" cy="1727200"/>
          </a:xfrm>
          <a:prstGeom prst="roundRect">
            <a:avLst>
              <a:gd name="adj" fmla="val 12000"/>
            </a:avLst>
          </a:prstGeom>
          <a:solidFill>
            <a:srgbClr val="E7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ard Accent Bar"/>
          <p:cNvSpPr/>
          <p:nvPr/>
        </p:nvSpPr>
        <p:spPr>
          <a:xfrm>
            <a:off x="533400" y="2641600"/>
            <a:ext cx="50800" cy="1727200"/>
          </a:xfrm>
          <a:prstGeom prst="rect">
            <a:avLst/>
          </a:prstGeom>
          <a:solidFill>
            <a:srgbClr val="0F766E"/>
          </a:solidFill>
          <a:ln>
            <a:noFill/>
          </a:ln>
          <a:effectLst/>
        </p:spPr>
        <p:txBody>
          <a:bodyPr rtlCol="0" anchor="ctr"/>
          <a:lstStyle/>
          <a:p>
            <a:endParaRPr lang="en-US" dirty="0"/>
          </a:p>
        </p:txBody>
      </p:sp>
      <p:sp>
        <p:nvSpPr>
          <p:cNvPr id="10" name="TextBox 9"/>
          <p:cNvSpPr txBox="1"/>
          <p:nvPr/>
        </p:nvSpPr>
        <p:spPr>
          <a:xfrm>
            <a:off x="787400" y="2946400"/>
            <a:ext cx="10591800" cy="279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1600" b="1" dirty="0">
                <a:solidFill>
                  <a:srgbClr val="0F766E"/>
                </a:solidFill>
                <a:latin typeface="Calibri"/>
                <a:cs typeface="Calibri"/>
              </a:rPr>
              <a:t>In my own words</a:t>
            </a:r>
            <a:endParaRPr lang="en-US" sz="1600" dirty="0">
              <a:latin typeface="Calibri"/>
            </a:endParaRPr>
          </a:p>
        </p:txBody>
      </p:sp>
      <p:sp>
        <p:nvSpPr>
          <p:cNvPr id="11" name="TextBox 10"/>
          <p:cNvSpPr txBox="1"/>
          <p:nvPr/>
        </p:nvSpPr>
        <p:spPr>
          <a:xfrm>
            <a:off x="787400" y="3327400"/>
            <a:ext cx="10591800" cy="787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2400" b="0" dirty="0">
                <a:solidFill>
                  <a:srgbClr val="000000"/>
                </a:solidFill>
                <a:latin typeface="Calibri"/>
                <a:cs typeface="Calibri"/>
              </a:rPr>
              <a:t>Retrieving the right documentation is useful, but it does not guarantee a correct API call—or a refusal when no suitable API is offered.</a:t>
            </a:r>
            <a:endParaRPr lang="en-US" sz="2400" dirty="0">
              <a:latin typeface="Calibri"/>
            </a:endParaRPr>
          </a:p>
        </p:txBody>
      </p:sp>
      <p:sp>
        <p:nvSpPr>
          <p:cNvPr id="13" name="TextBox 12"/>
          <p:cNvSpPr txBox="1"/>
          <p:nvPr/>
        </p:nvSpPr>
        <p:spPr>
          <a:xfrm>
            <a:off x="787400" y="4775200"/>
            <a:ext cx="5181600" cy="7112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1800" b="1" dirty="0">
                <a:solidFill>
                  <a:srgbClr val="0F766E"/>
                </a:solidFill>
                <a:latin typeface="Calibri"/>
                <a:cs typeface="Calibri"/>
              </a:rPr>
              <a:t>My scope: </a:t>
            </a:r>
            <a:r>
              <a:rPr lang="en-US" sz="1800" b="0" dirty="0">
                <a:solidFill>
                  <a:srgbClr val="000000"/>
                </a:solidFill>
                <a:latin typeface="Calibri"/>
                <a:cs typeface="Calibri"/>
              </a:rPr>
              <a:t>retrieval + prompting + AST evaluation.</a:t>
            </a:r>
            <a:br>
              <a:rPr lang="en-US" sz="1800" b="0" dirty="0">
                <a:solidFill>
                  <a:srgbClr val="000000"/>
                </a:solidFill>
                <a:latin typeface="Calibri"/>
                <a:cs typeface="Calibri"/>
              </a:rPr>
            </a:br>
            <a:r>
              <a:rPr lang="en-US" sz="1800" b="0" dirty="0">
                <a:solidFill>
                  <a:srgbClr val="000000"/>
                </a:solidFill>
                <a:latin typeface="Calibri"/>
                <a:cs typeface="Calibri"/>
              </a:rPr>
              <a:t>No fine-tuning.</a:t>
            </a:r>
            <a:endParaRPr lang="en-US" sz="1800" dirty="0">
              <a:latin typeface="Calibri"/>
            </a:endParaRPr>
          </a:p>
        </p:txBody>
      </p:sp>
      <p:sp>
        <p:nvSpPr>
          <p:cNvPr id="16" name="Scope Rule"/>
          <p:cNvSpPr/>
          <p:nvPr/>
        </p:nvSpPr>
        <p:spPr>
          <a:xfrm>
            <a:off x="533400" y="4775200"/>
            <a:ext cx="38100" cy="711200"/>
          </a:xfrm>
          <a:prstGeom prst="rect">
            <a:avLst/>
          </a:prstGeom>
          <a:solidFill>
            <a:srgbClr val="0F766E"/>
          </a:solidFill>
          <a:ln>
            <a:noFill/>
          </a:ln>
          <a:effectLst/>
        </p:spPr>
        <p:txBody>
          <a:bodyPr rtlCol="0" anchor="ctr"/>
          <a:lstStyle/>
          <a:p>
            <a:endParaRPr lang="en-US" dirty="0"/>
          </a:p>
        </p:txBody>
      </p:sp>
    </p:spTree>
    <p:extLst>
      <p:ext uri="{BB962C8B-B14F-4D97-AF65-F5344CB8AC3E}">
        <p14:creationId xmlns:p14="http://schemas.microsoft.com/office/powerpoint/2010/main" val="2998501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0F766E"/>
                </a:solidFill>
                <a:latin typeface="Calibri"/>
                <a:cs typeface="Calibri"/>
              </a:rPr>
              <a:t>MY MOTIVATION</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Why this matters to my work</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Paper pp. 1, 5; data/apis.json; data/queries.json; verified answer metadata.</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02 / 12</a:t>
            </a:r>
            <a:endParaRPr lang="en-US" sz="1000" dirty="0">
              <a:latin typeface="Calibri"/>
            </a:endParaRPr>
          </a:p>
        </p:txBody>
      </p:sp>
      <p:sp>
        <p:nvSpPr>
          <p:cNvPr id="7" name="Rounded Rectangle 6"/>
          <p:cNvSpPr/>
          <p:nvPr/>
        </p:nvSpPr>
        <p:spPr>
          <a:xfrm>
            <a:off x="533400" y="1879600"/>
            <a:ext cx="3429000" cy="254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3400" y="1879600"/>
            <a:ext cx="3429000" cy="635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4000" b="1" dirty="0">
                <a:solidFill>
                  <a:srgbClr val="0F766E"/>
                </a:solidFill>
                <a:latin typeface="Calibri"/>
                <a:cs typeface="Calibri"/>
              </a:rPr>
              <a:t>01</a:t>
            </a:r>
            <a:endParaRPr lang="en-US" sz="4000" dirty="0">
              <a:latin typeface="Calibri"/>
            </a:endParaRPr>
          </a:p>
        </p:txBody>
      </p:sp>
      <p:sp>
        <p:nvSpPr>
          <p:cNvPr id="9" name="TextBox 8"/>
          <p:cNvSpPr txBox="1"/>
          <p:nvPr/>
        </p:nvSpPr>
        <p:spPr>
          <a:xfrm>
            <a:off x="533400" y="2616200"/>
            <a:ext cx="3429000" cy="406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400" b="1" dirty="0">
                <a:solidFill>
                  <a:srgbClr val="000000"/>
                </a:solidFill>
                <a:latin typeface="Calibri"/>
                <a:cs typeface="Calibri"/>
              </a:rPr>
              <a:t>Understand the request</a:t>
            </a:r>
            <a:endParaRPr lang="en-US" sz="2400" dirty="0">
              <a:latin typeface="Calibri"/>
            </a:endParaRPr>
          </a:p>
        </p:txBody>
      </p:sp>
      <p:sp>
        <p:nvSpPr>
          <p:cNvPr id="10" name="TextBox 9"/>
          <p:cNvSpPr txBox="1"/>
          <p:nvPr/>
        </p:nvSpPr>
        <p:spPr>
          <a:xfrm>
            <a:off x="533400" y="3149600"/>
            <a:ext cx="3429000" cy="1270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Map an operations request to one specific Kubernetes API.</a:t>
            </a:r>
            <a:endParaRPr lang="en-US" sz="2000" dirty="0">
              <a:latin typeface="Calibri"/>
            </a:endParaRPr>
          </a:p>
        </p:txBody>
      </p:sp>
      <p:sp>
        <p:nvSpPr>
          <p:cNvPr id="11" name="Rounded Rectangle 10"/>
          <p:cNvSpPr/>
          <p:nvPr/>
        </p:nvSpPr>
        <p:spPr>
          <a:xfrm>
            <a:off x="4381500" y="1879600"/>
            <a:ext cx="3429000" cy="254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1500" y="1879600"/>
            <a:ext cx="3429000" cy="635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4000" b="1" dirty="0">
                <a:solidFill>
                  <a:srgbClr val="0F766E"/>
                </a:solidFill>
                <a:latin typeface="Calibri"/>
                <a:cs typeface="Calibri"/>
              </a:rPr>
              <a:t>02</a:t>
            </a:r>
            <a:endParaRPr lang="en-US" sz="4000" dirty="0">
              <a:latin typeface="Calibri"/>
            </a:endParaRPr>
          </a:p>
        </p:txBody>
      </p:sp>
      <p:sp>
        <p:nvSpPr>
          <p:cNvPr id="13" name="TextBox 12"/>
          <p:cNvSpPr txBox="1"/>
          <p:nvPr/>
        </p:nvSpPr>
        <p:spPr>
          <a:xfrm>
            <a:off x="4381500" y="2616200"/>
            <a:ext cx="3429000" cy="406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400" b="1" dirty="0">
                <a:solidFill>
                  <a:srgbClr val="000000"/>
                </a:solidFill>
                <a:latin typeface="Calibri"/>
                <a:cs typeface="Calibri"/>
              </a:rPr>
              <a:t>Use the right version</a:t>
            </a:r>
            <a:endParaRPr lang="en-US" sz="2400" dirty="0">
              <a:latin typeface="Calibri"/>
            </a:endParaRPr>
          </a:p>
        </p:txBody>
      </p:sp>
      <p:sp>
        <p:nvSpPr>
          <p:cNvPr id="14" name="TextBox 13"/>
          <p:cNvSpPr txBox="1"/>
          <p:nvPr/>
        </p:nvSpPr>
        <p:spPr>
          <a:xfrm>
            <a:off x="4381500" y="3149600"/>
            <a:ext cx="3429000" cy="1270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Ground the answer in the API contract that the cluster serves.</a:t>
            </a:r>
            <a:endParaRPr lang="en-US" sz="2000" dirty="0">
              <a:latin typeface="Calibri"/>
            </a:endParaRPr>
          </a:p>
        </p:txBody>
      </p:sp>
      <p:sp>
        <p:nvSpPr>
          <p:cNvPr id="15" name="Rounded Rectangle 14"/>
          <p:cNvSpPr/>
          <p:nvPr/>
        </p:nvSpPr>
        <p:spPr>
          <a:xfrm>
            <a:off x="8229600" y="1879600"/>
            <a:ext cx="3429000" cy="254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879600"/>
            <a:ext cx="3429000" cy="635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4000" b="1" dirty="0">
                <a:solidFill>
                  <a:srgbClr val="0F766E"/>
                </a:solidFill>
                <a:latin typeface="Calibri"/>
                <a:cs typeface="Calibri"/>
              </a:rPr>
              <a:t>03</a:t>
            </a:r>
            <a:endParaRPr lang="en-US" sz="4000" dirty="0">
              <a:latin typeface="Calibri"/>
            </a:endParaRPr>
          </a:p>
        </p:txBody>
      </p:sp>
      <p:sp>
        <p:nvSpPr>
          <p:cNvPr id="17" name="TextBox 16"/>
          <p:cNvSpPr txBox="1"/>
          <p:nvPr/>
        </p:nvSpPr>
        <p:spPr>
          <a:xfrm>
            <a:off x="8229600" y="2616200"/>
            <a:ext cx="3429000" cy="406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400" b="1" dirty="0">
                <a:solidFill>
                  <a:srgbClr val="000000"/>
                </a:solidFill>
                <a:latin typeface="Calibri"/>
                <a:cs typeface="Calibri"/>
              </a:rPr>
              <a:t>Check before action</a:t>
            </a:r>
            <a:endParaRPr lang="en-US" sz="2400" dirty="0">
              <a:latin typeface="Calibri"/>
            </a:endParaRPr>
          </a:p>
        </p:txBody>
      </p:sp>
      <p:sp>
        <p:nvSpPr>
          <p:cNvPr id="18" name="TextBox 17"/>
          <p:cNvSpPr txBox="1"/>
          <p:nvPr/>
        </p:nvSpPr>
        <p:spPr>
          <a:xfrm>
            <a:off x="8229600" y="3149600"/>
            <a:ext cx="3429000" cy="1270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Verify the function and arguments before considering any execution.</a:t>
            </a:r>
            <a:endParaRPr lang="en-US" sz="2000" dirty="0">
              <a:latin typeface="Calibri"/>
            </a:endParaRPr>
          </a:p>
        </p:txBody>
      </p:sp>
      <p:sp>
        <p:nvSpPr>
          <p:cNvPr id="19" name="Rounded Rectangle 18"/>
          <p:cNvSpPr/>
          <p:nvPr/>
        </p:nvSpPr>
        <p:spPr>
          <a:xfrm>
            <a:off x="533400" y="5130800"/>
            <a:ext cx="11125200" cy="609600"/>
          </a:xfrm>
          <a:prstGeom prst="roundRect">
            <a:avLst>
              <a:gd name="adj" fmla="val 12000"/>
            </a:avLst>
          </a:prstGeom>
          <a:solidFill>
            <a:srgbClr val="E7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2000" y="5130800"/>
            <a:ext cx="10668000" cy="6096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My research question: can documentation guide a verifiable single call?</a:t>
            </a:r>
            <a:endParaRPr lang="en-US" sz="2000" dirty="0">
              <a:latin typeface="Calibri"/>
            </a:endParaRPr>
          </a:p>
        </p:txBody>
      </p:sp>
    </p:spTree>
    <p:extLst>
      <p:ext uri="{BB962C8B-B14F-4D97-AF65-F5344CB8AC3E}">
        <p14:creationId xmlns:p14="http://schemas.microsoft.com/office/powerpoint/2010/main" val="2044115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2563EB"/>
                </a:solidFill>
                <a:latin typeface="Calibri"/>
                <a:cs typeface="Calibri"/>
              </a:rPr>
              <a:t>PAPER: MOTIVATION</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The problem before Gorilla</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Paper pp. 1–3 (Introduction and Related Work).</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03 / 12</a:t>
            </a:r>
            <a:endParaRPr lang="en-US" sz="1000" dirty="0">
              <a:latin typeface="Calibri"/>
            </a:endParaRPr>
          </a:p>
        </p:txBody>
      </p:sp>
      <p:sp>
        <p:nvSpPr>
          <p:cNvPr id="7" name="Rounded Rectangle 6"/>
          <p:cNvSpPr/>
          <p:nvPr/>
        </p:nvSpPr>
        <p:spPr>
          <a:xfrm>
            <a:off x="533400" y="1879600"/>
            <a:ext cx="3429000" cy="1727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3400" y="1879600"/>
            <a:ext cx="50800" cy="172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2000" y="1930400"/>
            <a:ext cx="3149600" cy="406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400" b="1" dirty="0">
                <a:solidFill>
                  <a:srgbClr val="2563EB"/>
                </a:solidFill>
                <a:latin typeface="Calibri"/>
                <a:cs typeface="Calibri"/>
              </a:rPr>
              <a:t>Too many choices</a:t>
            </a:r>
            <a:endParaRPr lang="en-US" sz="2400" dirty="0">
              <a:latin typeface="Calibri"/>
            </a:endParaRPr>
          </a:p>
        </p:txBody>
      </p:sp>
      <p:sp>
        <p:nvSpPr>
          <p:cNvPr id="10" name="TextBox 9"/>
          <p:cNvSpPr txBox="1"/>
          <p:nvPr/>
        </p:nvSpPr>
        <p:spPr>
          <a:xfrm>
            <a:off x="762000" y="2463800"/>
            <a:ext cx="3149600" cy="1066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Many APIs offer similar functionality. A fluent answer can still select the wrong tool.</a:t>
            </a:r>
            <a:endParaRPr lang="en-US" sz="2000" dirty="0">
              <a:latin typeface="Calibri"/>
            </a:endParaRPr>
          </a:p>
        </p:txBody>
      </p:sp>
      <p:sp>
        <p:nvSpPr>
          <p:cNvPr id="11" name="Rounded Rectangle 10"/>
          <p:cNvSpPr/>
          <p:nvPr/>
        </p:nvSpPr>
        <p:spPr>
          <a:xfrm>
            <a:off x="4381500" y="1879600"/>
            <a:ext cx="3429000" cy="1727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1500" y="1879600"/>
            <a:ext cx="50800" cy="172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0100" y="1930400"/>
            <a:ext cx="3149600" cy="406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400" b="1" dirty="0">
                <a:solidFill>
                  <a:srgbClr val="2563EB"/>
                </a:solidFill>
                <a:latin typeface="Calibri"/>
                <a:cs typeface="Calibri"/>
              </a:rPr>
              <a:t>Changing documents</a:t>
            </a:r>
            <a:endParaRPr lang="en-US" sz="2400" dirty="0">
              <a:latin typeface="Calibri"/>
            </a:endParaRPr>
          </a:p>
        </p:txBody>
      </p:sp>
      <p:sp>
        <p:nvSpPr>
          <p:cNvPr id="14" name="TextBox 13"/>
          <p:cNvSpPr txBox="1"/>
          <p:nvPr/>
        </p:nvSpPr>
        <p:spPr>
          <a:xfrm>
            <a:off x="4610100" y="2463800"/>
            <a:ext cx="3149600" cy="1066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Versions and arguments evolve. A model’s stored knowledge can become stale.</a:t>
            </a:r>
            <a:endParaRPr lang="en-US" sz="2000" dirty="0">
              <a:latin typeface="Calibri"/>
            </a:endParaRPr>
          </a:p>
        </p:txBody>
      </p:sp>
      <p:sp>
        <p:nvSpPr>
          <p:cNvPr id="15" name="Rounded Rectangle 14"/>
          <p:cNvSpPr/>
          <p:nvPr/>
        </p:nvSpPr>
        <p:spPr>
          <a:xfrm>
            <a:off x="8229600" y="1879600"/>
            <a:ext cx="3429000" cy="1727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0" y="1879600"/>
            <a:ext cx="50800" cy="172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58200" y="1930400"/>
            <a:ext cx="3149600" cy="406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400" b="1" dirty="0">
                <a:solidFill>
                  <a:srgbClr val="2563EB"/>
                </a:solidFill>
                <a:latin typeface="Calibri"/>
                <a:cs typeface="Calibri"/>
              </a:rPr>
              <a:t>Plausible mistakes</a:t>
            </a:r>
            <a:endParaRPr lang="en-US" sz="2400" dirty="0">
              <a:latin typeface="Calibri"/>
            </a:endParaRPr>
          </a:p>
        </p:txBody>
      </p:sp>
      <p:sp>
        <p:nvSpPr>
          <p:cNvPr id="18" name="TextBox 17"/>
          <p:cNvSpPr txBox="1"/>
          <p:nvPr/>
        </p:nvSpPr>
        <p:spPr>
          <a:xfrm>
            <a:off x="8458200" y="2463800"/>
            <a:ext cx="3149600" cy="1066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Valid-looking code can contain an invented function or incorrect arguments.</a:t>
            </a:r>
            <a:endParaRPr lang="en-US" sz="2000" dirty="0">
              <a:latin typeface="Calibri"/>
            </a:endParaRPr>
          </a:p>
        </p:txBody>
      </p:sp>
      <p:sp>
        <p:nvSpPr>
          <p:cNvPr id="19" name="Rounded Rectangle 18"/>
          <p:cNvSpPr/>
          <p:nvPr/>
        </p:nvSpPr>
        <p:spPr>
          <a:xfrm>
            <a:off x="533400" y="4521200"/>
            <a:ext cx="11125200" cy="609600"/>
          </a:xfrm>
          <a:prstGeom prst="roundRect">
            <a:avLst>
              <a:gd name="adj" fmla="val 12000"/>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2000" y="4521200"/>
            <a:ext cx="10668000" cy="6096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2000" b="1" dirty="0">
                <a:solidFill>
                  <a:srgbClr val="2563EB"/>
                </a:solidFill>
                <a:latin typeface="Calibri"/>
                <a:cs typeface="Calibri"/>
              </a:rPr>
              <a:t>The goal is a usable API call, not merely convincing text.</a:t>
            </a:r>
            <a:endParaRPr lang="en-US" sz="2000" dirty="0">
              <a:latin typeface="Calibri"/>
            </a:endParaRPr>
          </a:p>
        </p:txBody>
      </p:sp>
    </p:spTree>
    <p:extLst>
      <p:ext uri="{BB962C8B-B14F-4D97-AF65-F5344CB8AC3E}">
        <p14:creationId xmlns:p14="http://schemas.microsoft.com/office/powerpoint/2010/main" val="2290661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2563EB"/>
                </a:solidFill>
                <a:latin typeface="Calibri"/>
                <a:cs typeface="Calibri"/>
              </a:rPr>
              <a:t>PAPER: REDRAWN METHOD DIAGRAM</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How Gorilla works</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Redrawn from paper Fig. 3, p. 4; method and retriever-aware training, p. 5.</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04 / 12</a:t>
            </a:r>
            <a:endParaRPr lang="en-US" sz="1000" dirty="0">
              <a:latin typeface="Calibri"/>
            </a:endParaRPr>
          </a:p>
        </p:txBody>
      </p:sp>
      <p:sp>
        <p:nvSpPr>
          <p:cNvPr id="7" name="TextBox 6"/>
          <p:cNvSpPr txBox="1"/>
          <p:nvPr/>
        </p:nvSpPr>
        <p:spPr>
          <a:xfrm>
            <a:off x="533400" y="1346200"/>
            <a:ext cx="11049000" cy="279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600" b="1" dirty="0">
                <a:solidFill>
                  <a:srgbClr val="2563EB"/>
                </a:solidFill>
                <a:latin typeface="Calibri"/>
                <a:cs typeface="Calibri"/>
              </a:rPr>
              <a:t>TRAINING — paper only; not reproduced in my pilot</a:t>
            </a:r>
            <a:endParaRPr lang="en-US" sz="1600" dirty="0">
              <a:latin typeface="Calibri"/>
            </a:endParaRPr>
          </a:p>
        </p:txBody>
      </p:sp>
      <p:sp>
        <p:nvSpPr>
          <p:cNvPr id="8" name="Rounded Rectangle 7"/>
          <p:cNvSpPr/>
          <p:nvPr/>
        </p:nvSpPr>
        <p:spPr>
          <a:xfrm>
            <a:off x="533400" y="1790700"/>
            <a:ext cx="2286000" cy="1181100"/>
          </a:xfrm>
          <a:prstGeom prst="roundRect">
            <a:avLst>
              <a:gd name="adj" fmla="val 12000"/>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000" y="2057400"/>
            <a:ext cx="2082800" cy="3048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1800" b="1" dirty="0">
                <a:solidFill>
                  <a:srgbClr val="2563EB"/>
                </a:solidFill>
                <a:latin typeface="Calibri"/>
                <a:cs typeface="Calibri"/>
              </a:rPr>
              <a:t>API model cards</a:t>
            </a:r>
            <a:endParaRPr lang="en-US" sz="1800" dirty="0">
              <a:latin typeface="Calibri"/>
            </a:endParaRPr>
          </a:p>
        </p:txBody>
      </p:sp>
      <p:sp>
        <p:nvSpPr>
          <p:cNvPr id="10" name="TextBox 9"/>
          <p:cNvSpPr txBox="1"/>
          <p:nvPr/>
        </p:nvSpPr>
        <p:spPr>
          <a:xfrm>
            <a:off x="635000" y="2451100"/>
            <a:ext cx="2082800" cy="2540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1400" b="0" dirty="0">
                <a:solidFill>
                  <a:srgbClr val="000000"/>
                </a:solidFill>
                <a:latin typeface="Calibri"/>
                <a:cs typeface="Calibri"/>
              </a:rPr>
              <a:t>Three model hubs</a:t>
            </a:r>
            <a:endParaRPr lang="en-US" sz="1400" dirty="0">
              <a:latin typeface="Calibri"/>
            </a:endParaRPr>
          </a:p>
        </p:txBody>
      </p:sp>
      <p:sp>
        <p:nvSpPr>
          <p:cNvPr id="11" name="Rounded Rectangle 10"/>
          <p:cNvSpPr/>
          <p:nvPr/>
        </p:nvSpPr>
        <p:spPr>
          <a:xfrm>
            <a:off x="3441700" y="1790700"/>
            <a:ext cx="2476500" cy="1181100"/>
          </a:xfrm>
          <a:prstGeom prst="roundRect">
            <a:avLst>
              <a:gd name="adj" fmla="val 12000"/>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43300" y="2057400"/>
            <a:ext cx="2273300" cy="3048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1800" b="1" dirty="0">
                <a:solidFill>
                  <a:srgbClr val="2563EB"/>
                </a:solidFill>
                <a:latin typeface="Calibri"/>
                <a:cs typeface="Calibri"/>
              </a:rPr>
              <a:t>Synthetic pairs</a:t>
            </a:r>
            <a:endParaRPr lang="en-US" sz="1800" dirty="0">
              <a:latin typeface="Calibri"/>
            </a:endParaRPr>
          </a:p>
        </p:txBody>
      </p:sp>
      <p:sp>
        <p:nvSpPr>
          <p:cNvPr id="13" name="TextBox 12"/>
          <p:cNvSpPr txBox="1"/>
          <p:nvPr/>
        </p:nvSpPr>
        <p:spPr>
          <a:xfrm>
            <a:off x="3543300" y="2451100"/>
            <a:ext cx="2273300" cy="2540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1400" b="0" dirty="0">
                <a:solidFill>
                  <a:srgbClr val="000000"/>
                </a:solidFill>
                <a:latin typeface="Calibri"/>
                <a:cs typeface="Calibri"/>
              </a:rPr>
              <a:t>GPT-4 self-instruct</a:t>
            </a:r>
            <a:endParaRPr lang="en-US" sz="1400" dirty="0">
              <a:latin typeface="Calibri"/>
            </a:endParaRPr>
          </a:p>
        </p:txBody>
      </p:sp>
      <p:sp>
        <p:nvSpPr>
          <p:cNvPr id="14" name="Rounded Rectangle 13"/>
          <p:cNvSpPr/>
          <p:nvPr/>
        </p:nvSpPr>
        <p:spPr>
          <a:xfrm>
            <a:off x="6540500" y="1790700"/>
            <a:ext cx="2603500" cy="1181100"/>
          </a:xfrm>
          <a:prstGeom prst="roundRect">
            <a:avLst>
              <a:gd name="adj" fmla="val 12000"/>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42100" y="2057400"/>
            <a:ext cx="2400300" cy="3048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1800" b="1" dirty="0">
                <a:solidFill>
                  <a:srgbClr val="2563EB"/>
                </a:solidFill>
                <a:latin typeface="Calibri"/>
                <a:cs typeface="Calibri"/>
              </a:rPr>
              <a:t>Fine-tune LLaMA-7B</a:t>
            </a:r>
            <a:endParaRPr lang="en-US" sz="1800" dirty="0">
              <a:latin typeface="Calibri"/>
            </a:endParaRPr>
          </a:p>
        </p:txBody>
      </p:sp>
      <p:sp>
        <p:nvSpPr>
          <p:cNvPr id="16" name="TextBox 15"/>
          <p:cNvSpPr txBox="1"/>
          <p:nvPr/>
        </p:nvSpPr>
        <p:spPr>
          <a:xfrm>
            <a:off x="6642100" y="2451100"/>
            <a:ext cx="2400300" cy="2540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1400" b="0" dirty="0">
                <a:solidFill>
                  <a:srgbClr val="000000"/>
                </a:solidFill>
                <a:latin typeface="Calibri"/>
                <a:cs typeface="Calibri"/>
              </a:rPr>
              <a:t>Include API documents</a:t>
            </a:r>
            <a:endParaRPr lang="en-US" sz="1400" dirty="0">
              <a:latin typeface="Calibri"/>
            </a:endParaRPr>
          </a:p>
        </p:txBody>
      </p:sp>
      <p:sp>
        <p:nvSpPr>
          <p:cNvPr id="17" name="Rounded Rectangle 16"/>
          <p:cNvSpPr/>
          <p:nvPr/>
        </p:nvSpPr>
        <p:spPr>
          <a:xfrm>
            <a:off x="9766300" y="1790700"/>
            <a:ext cx="1892300" cy="1181100"/>
          </a:xfrm>
          <a:prstGeom prst="roundRect">
            <a:avLst>
              <a:gd name="adj" fmla="val 12000"/>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867900" y="2057400"/>
            <a:ext cx="1689100" cy="3048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1800" b="1" dirty="0">
                <a:solidFill>
                  <a:srgbClr val="2563EB"/>
                </a:solidFill>
                <a:latin typeface="Calibri"/>
                <a:cs typeface="Calibri"/>
              </a:rPr>
              <a:t>Gorilla</a:t>
            </a:r>
            <a:endParaRPr lang="en-US" sz="1800" dirty="0">
              <a:latin typeface="Calibri"/>
            </a:endParaRPr>
          </a:p>
        </p:txBody>
      </p:sp>
      <p:sp>
        <p:nvSpPr>
          <p:cNvPr id="19" name="TextBox 18"/>
          <p:cNvSpPr txBox="1"/>
          <p:nvPr/>
        </p:nvSpPr>
        <p:spPr>
          <a:xfrm>
            <a:off x="9867900" y="2451100"/>
            <a:ext cx="1689100" cy="2540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1400" b="0" dirty="0">
                <a:solidFill>
                  <a:srgbClr val="000000"/>
                </a:solidFill>
                <a:latin typeface="Calibri"/>
                <a:cs typeface="Calibri"/>
              </a:rPr>
              <a:t>Trained model</a:t>
            </a:r>
            <a:endParaRPr lang="en-US" sz="1400" dirty="0">
              <a:latin typeface="Calibri"/>
            </a:endParaRPr>
          </a:p>
        </p:txBody>
      </p:sp>
      <p:cxnSp>
        <p:nvCxnSpPr>
          <p:cNvPr id="20" name="Connector 19"/>
          <p:cNvCxnSpPr/>
          <p:nvPr/>
        </p:nvCxnSpPr>
        <p:spPr>
          <a:xfrm>
            <a:off x="2882900" y="2387600"/>
            <a:ext cx="46990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261314" y="2387600"/>
            <a:ext cx="91486" cy="44192"/>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3261314" y="2343407"/>
            <a:ext cx="91486" cy="44193"/>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81700" y="2387600"/>
            <a:ext cx="46990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360114" y="2387600"/>
            <a:ext cx="91486" cy="44192"/>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6360114" y="2343407"/>
            <a:ext cx="91486" cy="44193"/>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207500" y="2387600"/>
            <a:ext cx="46990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9585914" y="2387600"/>
            <a:ext cx="91486" cy="44192"/>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9585914" y="2343407"/>
            <a:ext cx="91486" cy="44193"/>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33400" y="3441700"/>
            <a:ext cx="11049000" cy="279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600" b="1" dirty="0">
                <a:solidFill>
                  <a:srgbClr val="0F766E"/>
                </a:solidFill>
                <a:latin typeface="Calibri"/>
                <a:cs typeface="Calibri"/>
              </a:rPr>
              <a:t>INFERENCE — the pattern adapted by my pilot</a:t>
            </a:r>
            <a:endParaRPr lang="en-US" sz="1600" dirty="0">
              <a:latin typeface="Calibri"/>
            </a:endParaRPr>
          </a:p>
        </p:txBody>
      </p:sp>
      <p:sp>
        <p:nvSpPr>
          <p:cNvPr id="30" name="Rounded Rectangle 29"/>
          <p:cNvSpPr/>
          <p:nvPr/>
        </p:nvSpPr>
        <p:spPr>
          <a:xfrm>
            <a:off x="533400" y="4267200"/>
            <a:ext cx="1803400" cy="876300"/>
          </a:xfrm>
          <a:prstGeom prst="roundRect">
            <a:avLst>
              <a:gd name="adj" fmla="val 12000"/>
            </a:avLst>
          </a:prstGeom>
          <a:solidFill>
            <a:srgbClr val="E7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09600" y="4267200"/>
            <a:ext cx="1651000" cy="876300"/>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lang="en-US" sz="1800" b="1" dirty="0">
                <a:solidFill>
                  <a:srgbClr val="0F766E"/>
                </a:solidFill>
                <a:latin typeface="Calibri"/>
                <a:cs typeface="Calibri"/>
              </a:rPr>
              <a:t>User request</a:t>
            </a:r>
            <a:endParaRPr lang="en-US" sz="1800" dirty="0">
              <a:latin typeface="Calibri"/>
            </a:endParaRPr>
          </a:p>
        </p:txBody>
      </p:sp>
      <p:sp>
        <p:nvSpPr>
          <p:cNvPr id="32" name="Rounded Rectangle 31"/>
          <p:cNvSpPr/>
          <p:nvPr/>
        </p:nvSpPr>
        <p:spPr>
          <a:xfrm>
            <a:off x="2781300" y="4267200"/>
            <a:ext cx="1803400" cy="876300"/>
          </a:xfrm>
          <a:prstGeom prst="roundRect">
            <a:avLst>
              <a:gd name="adj" fmla="val 12000"/>
            </a:avLst>
          </a:prstGeom>
          <a:solidFill>
            <a:srgbClr val="E7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857500" y="4267200"/>
            <a:ext cx="1651000" cy="876300"/>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lang="en-US" sz="1800" b="1" dirty="0">
                <a:solidFill>
                  <a:srgbClr val="0F766E"/>
                </a:solidFill>
                <a:latin typeface="Calibri"/>
                <a:cs typeface="Calibri"/>
              </a:rPr>
              <a:t>Retriever</a:t>
            </a:r>
            <a:endParaRPr lang="en-US" sz="1800" dirty="0">
              <a:latin typeface="Calibri"/>
            </a:endParaRPr>
          </a:p>
        </p:txBody>
      </p:sp>
      <p:sp>
        <p:nvSpPr>
          <p:cNvPr id="34" name="Rounded Rectangle 33"/>
          <p:cNvSpPr/>
          <p:nvPr/>
        </p:nvSpPr>
        <p:spPr>
          <a:xfrm>
            <a:off x="5029200" y="4267200"/>
            <a:ext cx="2120900" cy="876300"/>
          </a:xfrm>
          <a:prstGeom prst="roundRect">
            <a:avLst>
              <a:gd name="adj" fmla="val 12000"/>
            </a:avLst>
          </a:prstGeom>
          <a:solidFill>
            <a:srgbClr val="E7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105400" y="4267200"/>
            <a:ext cx="1968500" cy="876300"/>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lang="en-US" sz="1800" b="1" dirty="0">
                <a:solidFill>
                  <a:srgbClr val="0F766E"/>
                </a:solidFill>
                <a:latin typeface="Calibri"/>
                <a:cs typeface="Calibri"/>
              </a:rPr>
              <a:t>Request + doc</a:t>
            </a:r>
            <a:endParaRPr lang="en-US" sz="1800" dirty="0">
              <a:latin typeface="Calibri"/>
            </a:endParaRPr>
          </a:p>
        </p:txBody>
      </p:sp>
      <p:sp>
        <p:nvSpPr>
          <p:cNvPr id="36" name="Rounded Rectangle 35"/>
          <p:cNvSpPr/>
          <p:nvPr/>
        </p:nvSpPr>
        <p:spPr>
          <a:xfrm>
            <a:off x="7594600" y="4267200"/>
            <a:ext cx="1803400" cy="876300"/>
          </a:xfrm>
          <a:prstGeom prst="roundRect">
            <a:avLst>
              <a:gd name="adj" fmla="val 12000"/>
            </a:avLst>
          </a:prstGeom>
          <a:solidFill>
            <a:srgbClr val="E7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70800" y="4267200"/>
            <a:ext cx="1651000" cy="876300"/>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lang="en-US" sz="1800" b="1" dirty="0">
                <a:solidFill>
                  <a:srgbClr val="0F766E"/>
                </a:solidFill>
                <a:latin typeface="Calibri"/>
                <a:cs typeface="Calibri"/>
              </a:rPr>
              <a:t>Gorilla</a:t>
            </a:r>
            <a:endParaRPr lang="en-US" sz="1800" dirty="0">
              <a:latin typeface="Calibri"/>
            </a:endParaRPr>
          </a:p>
        </p:txBody>
      </p:sp>
      <p:sp>
        <p:nvSpPr>
          <p:cNvPr id="38" name="Rounded Rectangle 37"/>
          <p:cNvSpPr/>
          <p:nvPr/>
        </p:nvSpPr>
        <p:spPr>
          <a:xfrm>
            <a:off x="9842500" y="4267200"/>
            <a:ext cx="1816100" cy="876300"/>
          </a:xfrm>
          <a:prstGeom prst="roundRect">
            <a:avLst>
              <a:gd name="adj" fmla="val 12000"/>
            </a:avLst>
          </a:prstGeom>
          <a:solidFill>
            <a:srgbClr val="E7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18700" y="4267200"/>
            <a:ext cx="1663700" cy="876300"/>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lang="en-US" sz="1800" b="1" dirty="0">
                <a:solidFill>
                  <a:srgbClr val="0F766E"/>
                </a:solidFill>
                <a:latin typeface="Calibri"/>
                <a:cs typeface="Calibri"/>
              </a:rPr>
              <a:t>API call</a:t>
            </a:r>
            <a:endParaRPr lang="en-US" sz="1800" dirty="0">
              <a:latin typeface="Calibri"/>
            </a:endParaRPr>
          </a:p>
        </p:txBody>
      </p:sp>
      <p:cxnSp>
        <p:nvCxnSpPr>
          <p:cNvPr id="40" name="Connector 39"/>
          <p:cNvCxnSpPr/>
          <p:nvPr/>
        </p:nvCxnSpPr>
        <p:spPr>
          <a:xfrm>
            <a:off x="2400300" y="4699000"/>
            <a:ext cx="292100" cy="0"/>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2600914" y="4699000"/>
            <a:ext cx="91486" cy="44192"/>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600914" y="4654807"/>
            <a:ext cx="91486" cy="44193"/>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648200" y="4699000"/>
            <a:ext cx="292100" cy="0"/>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848814" y="4699000"/>
            <a:ext cx="91486" cy="44192"/>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48814" y="4654807"/>
            <a:ext cx="91486" cy="44193"/>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213600" y="4699000"/>
            <a:ext cx="292100" cy="0"/>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7414214" y="4699000"/>
            <a:ext cx="91486" cy="44192"/>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7414214" y="4654807"/>
            <a:ext cx="91486" cy="44193"/>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461500" y="4699000"/>
            <a:ext cx="292100" cy="0"/>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662114" y="4699000"/>
            <a:ext cx="91486" cy="44192"/>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9662114" y="4654807"/>
            <a:ext cx="91486" cy="44193"/>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552700" y="3835400"/>
            <a:ext cx="2260600" cy="228600"/>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1400" b="0" dirty="0">
                <a:solidFill>
                  <a:srgbClr val="000000"/>
                </a:solidFill>
                <a:latin typeface="Calibri"/>
                <a:cs typeface="Calibri"/>
              </a:rPr>
              <a:t>API document store</a:t>
            </a:r>
            <a:endParaRPr lang="en-US" sz="1400" dirty="0">
              <a:latin typeface="Calibri"/>
            </a:endParaRPr>
          </a:p>
        </p:txBody>
      </p:sp>
      <p:cxnSp>
        <p:nvCxnSpPr>
          <p:cNvPr id="53" name="Connector 52"/>
          <p:cNvCxnSpPr/>
          <p:nvPr/>
        </p:nvCxnSpPr>
        <p:spPr>
          <a:xfrm>
            <a:off x="3683000" y="4089400"/>
            <a:ext cx="0" cy="139700"/>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3638807" y="4137614"/>
            <a:ext cx="44193" cy="91486"/>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683000" y="4137614"/>
            <a:ext cx="44192" cy="91486"/>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33400" y="5562600"/>
            <a:ext cx="11125200" cy="355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2563EB"/>
                </a:solidFill>
                <a:latin typeface="Calibri"/>
                <a:cs typeface="Calibri"/>
              </a:rPr>
              <a:t>Paper:</a:t>
            </a:r>
            <a:r>
              <a:rPr lang="en-US" sz="2000" b="0" dirty="0">
                <a:solidFill>
                  <a:srgbClr val="000000"/>
                </a:solidFill>
                <a:latin typeface="Calibri"/>
                <a:cs typeface="Calibri"/>
              </a:rPr>
              <a:t> usually top-1 retrieval. </a:t>
            </a:r>
            <a:r>
              <a:rPr lang="en-US" sz="2000" b="1" dirty="0">
                <a:solidFill>
                  <a:srgbClr val="0F766E"/>
                </a:solidFill>
                <a:latin typeface="Calibri"/>
                <a:cs typeface="Calibri"/>
              </a:rPr>
              <a:t>My pilot:</a:t>
            </a:r>
            <a:r>
              <a:rPr lang="en-US" sz="2000" b="0" dirty="0">
                <a:solidFill>
                  <a:srgbClr val="000000"/>
                </a:solidFill>
                <a:latin typeface="Calibri"/>
                <a:cs typeface="Calibri"/>
              </a:rPr>
              <a:t> TF-IDF top-3 + Gemma or Qwen.</a:t>
            </a:r>
            <a:endParaRPr lang="en-US" sz="2000" dirty="0">
              <a:latin typeface="Calibri"/>
            </a:endParaRPr>
          </a:p>
        </p:txBody>
      </p:sp>
    </p:spTree>
    <p:extLst>
      <p:ext uri="{BB962C8B-B14F-4D97-AF65-F5344CB8AC3E}">
        <p14:creationId xmlns:p14="http://schemas.microsoft.com/office/powerpoint/2010/main" val="3993500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2563EB"/>
                </a:solidFill>
                <a:latin typeface="Calibri"/>
                <a:cs typeface="Calibri"/>
              </a:rPr>
              <a:t>PAPER RULE + MY ADAPTED EVALUATOR</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The key rule: inspect the call’s structure</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Paper §3.3, pp. 5–6, Fig. 4; notebooks/gorilla_eval.py; refusal registry/evaluator.</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05 / 12</a:t>
            </a:r>
            <a:endParaRPr lang="en-US" sz="1000" dirty="0">
              <a:latin typeface="Calibri"/>
            </a:endParaRPr>
          </a:p>
        </p:txBody>
      </p:sp>
      <p:sp>
        <p:nvSpPr>
          <p:cNvPr id="7" name="Rounded Rectangle 6"/>
          <p:cNvSpPr/>
          <p:nvPr/>
        </p:nvSpPr>
        <p:spPr>
          <a:xfrm>
            <a:off x="533400" y="1422400"/>
            <a:ext cx="3175000" cy="1219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3400" y="1473200"/>
            <a:ext cx="29464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2563EB"/>
                </a:solidFill>
                <a:latin typeface="Calibri"/>
                <a:cs typeface="Calibri"/>
              </a:rPr>
              <a:t>Parse the code</a:t>
            </a:r>
            <a:endParaRPr lang="en-US" sz="2000" dirty="0">
              <a:latin typeface="Calibri"/>
            </a:endParaRPr>
          </a:p>
        </p:txBody>
      </p:sp>
      <p:sp>
        <p:nvSpPr>
          <p:cNvPr id="9" name="TextBox 8"/>
          <p:cNvSpPr txBox="1"/>
          <p:nvPr/>
        </p:nvSpPr>
        <p:spPr>
          <a:xfrm>
            <a:off x="533400" y="1905000"/>
            <a:ext cx="2946400" cy="635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Build an AST.</a:t>
            </a:r>
            <a:endParaRPr lang="en-US" sz="1800" dirty="0">
              <a:latin typeface="Calibri"/>
            </a:endParaRPr>
          </a:p>
        </p:txBody>
      </p:sp>
      <p:sp>
        <p:nvSpPr>
          <p:cNvPr id="10" name="Rounded Rectangle 9"/>
          <p:cNvSpPr/>
          <p:nvPr/>
        </p:nvSpPr>
        <p:spPr>
          <a:xfrm>
            <a:off x="4508500" y="1422400"/>
            <a:ext cx="3175000" cy="1219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08500" y="1473200"/>
            <a:ext cx="29464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2563EB"/>
                </a:solidFill>
                <a:latin typeface="Calibri"/>
                <a:cs typeface="Calibri"/>
              </a:rPr>
              <a:t>Match the reference</a:t>
            </a:r>
            <a:endParaRPr lang="en-US" sz="2000" dirty="0">
              <a:latin typeface="Calibri"/>
            </a:endParaRPr>
          </a:p>
        </p:txBody>
      </p:sp>
      <p:sp>
        <p:nvSpPr>
          <p:cNvPr id="12" name="TextBox 11"/>
          <p:cNvSpPr txBox="1"/>
          <p:nvPr/>
        </p:nvSpPr>
        <p:spPr>
          <a:xfrm>
            <a:off x="4508500" y="1905000"/>
            <a:ext cx="2946400" cy="635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Function + selected arguments.</a:t>
            </a:r>
            <a:endParaRPr lang="en-US" sz="1800" dirty="0">
              <a:latin typeface="Calibri"/>
            </a:endParaRPr>
          </a:p>
        </p:txBody>
      </p:sp>
      <p:sp>
        <p:nvSpPr>
          <p:cNvPr id="13" name="Rounded Rectangle 12"/>
          <p:cNvSpPr/>
          <p:nvPr/>
        </p:nvSpPr>
        <p:spPr>
          <a:xfrm>
            <a:off x="8483600" y="1422400"/>
            <a:ext cx="3175000" cy="1219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83600" y="1473200"/>
            <a:ext cx="29464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2563EB"/>
                </a:solidFill>
                <a:latin typeface="Calibri"/>
                <a:cs typeface="Calibri"/>
              </a:rPr>
              <a:t>Classify the outcome</a:t>
            </a:r>
            <a:endParaRPr lang="en-US" sz="2000" dirty="0">
              <a:latin typeface="Calibri"/>
            </a:endParaRPr>
          </a:p>
        </p:txBody>
      </p:sp>
      <p:sp>
        <p:nvSpPr>
          <p:cNvPr id="15" name="TextBox 14"/>
          <p:cNvSpPr txBox="1"/>
          <p:nvPr/>
        </p:nvSpPr>
        <p:spPr>
          <a:xfrm>
            <a:off x="8483600" y="1905000"/>
            <a:ext cx="2946400" cy="635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Correct, wrong, or invented.</a:t>
            </a:r>
            <a:endParaRPr lang="en-US" sz="1800" dirty="0">
              <a:latin typeface="Calibri"/>
            </a:endParaRPr>
          </a:p>
        </p:txBody>
      </p:sp>
      <p:cxnSp>
        <p:nvCxnSpPr>
          <p:cNvPr id="16" name="Connector 15"/>
          <p:cNvCxnSpPr/>
          <p:nvPr/>
        </p:nvCxnSpPr>
        <p:spPr>
          <a:xfrm>
            <a:off x="3606800" y="1638300"/>
            <a:ext cx="62230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137614" y="1638300"/>
            <a:ext cx="91486" cy="44192"/>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137614" y="1594107"/>
            <a:ext cx="91486" cy="44193"/>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581900" y="1638300"/>
            <a:ext cx="62230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8112714" y="1638300"/>
            <a:ext cx="91486" cy="44192"/>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8112714" y="1594107"/>
            <a:ext cx="91486" cy="44193"/>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33400" y="2819400"/>
            <a:ext cx="5397500" cy="1625600"/>
          </a:xfrm>
          <a:prstGeom prst="roundRect">
            <a:avLst>
              <a:gd name="adj" fmla="val 12000"/>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33400" y="2819400"/>
            <a:ext cx="50800" cy="16256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7400" y="30480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2563EB"/>
                </a:solidFill>
                <a:latin typeface="Calibri"/>
                <a:cs typeface="Calibri"/>
              </a:rPr>
              <a:t>Paper rule</a:t>
            </a:r>
            <a:endParaRPr lang="en-US" sz="2000" dirty="0">
              <a:latin typeface="Calibri"/>
            </a:endParaRPr>
          </a:p>
        </p:txBody>
      </p:sp>
      <p:sp>
        <p:nvSpPr>
          <p:cNvPr id="25" name="TextBox 24"/>
          <p:cNvSpPr txBox="1"/>
          <p:nvPr/>
        </p:nvSpPr>
        <p:spPr>
          <a:xfrm>
            <a:off x="787400" y="3479800"/>
            <a:ext cx="4889500" cy="762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Match API identity; optional arguments need not all match.</a:t>
            </a:r>
            <a:endParaRPr lang="en-US" sz="2000" dirty="0">
              <a:latin typeface="Calibri"/>
            </a:endParaRPr>
          </a:p>
        </p:txBody>
      </p:sp>
      <p:sp>
        <p:nvSpPr>
          <p:cNvPr id="26" name="Rounded Rectangle 25"/>
          <p:cNvSpPr/>
          <p:nvPr/>
        </p:nvSpPr>
        <p:spPr>
          <a:xfrm>
            <a:off x="6261100" y="2819400"/>
            <a:ext cx="5397500" cy="1625600"/>
          </a:xfrm>
          <a:prstGeom prst="roundRect">
            <a:avLst>
              <a:gd name="adj" fmla="val 12000"/>
            </a:avLst>
          </a:prstGeom>
          <a:solidFill>
            <a:srgbClr val="E7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61100" y="2819400"/>
            <a:ext cx="50800" cy="16256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5100" y="30480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My stricter adaptation</a:t>
            </a:r>
            <a:endParaRPr lang="en-US" sz="2000" dirty="0">
              <a:latin typeface="Calibri"/>
            </a:endParaRPr>
          </a:p>
        </p:txBody>
      </p:sp>
      <p:sp>
        <p:nvSpPr>
          <p:cNvPr id="29" name="TextBox 28"/>
          <p:cNvSpPr txBox="1"/>
          <p:nvPr/>
        </p:nvSpPr>
        <p:spPr>
          <a:xfrm>
            <a:off x="6515100" y="3479800"/>
            <a:ext cx="4889500" cy="762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One permitted SDK call; verified arguments; no code execution.</a:t>
            </a:r>
            <a:endParaRPr lang="en-US" sz="2000" dirty="0">
              <a:latin typeface="Calibri"/>
            </a:endParaRPr>
          </a:p>
        </p:txBody>
      </p:sp>
      <p:sp>
        <p:nvSpPr>
          <p:cNvPr id="30" name="Rounded Rectangle 29"/>
          <p:cNvSpPr/>
          <p:nvPr/>
        </p:nvSpPr>
        <p:spPr>
          <a:xfrm>
            <a:off x="533400" y="5054600"/>
            <a:ext cx="11125200" cy="609600"/>
          </a:xfrm>
          <a:prstGeom prst="roundRect">
            <a:avLst>
              <a:gd name="adj" fmla="val 12000"/>
            </a:avLst>
          </a:prstGeom>
          <a:solidFill>
            <a:srgbClr val="E7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2000" y="5054600"/>
            <a:ext cx="10668000" cy="6096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Real but absent from the retrieved cards ≠ an invented API.</a:t>
            </a:r>
            <a:endParaRPr lang="en-US" sz="2000" dirty="0">
              <a:latin typeface="Calibri"/>
            </a:endParaRPr>
          </a:p>
        </p:txBody>
      </p:sp>
    </p:spTree>
    <p:extLst>
      <p:ext uri="{BB962C8B-B14F-4D97-AF65-F5344CB8AC3E}">
        <p14:creationId xmlns:p14="http://schemas.microsoft.com/office/powerpoint/2010/main" val="1387015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2563EB"/>
                </a:solidFill>
                <a:latin typeface="Calibri"/>
                <a:cs typeface="Calibri"/>
              </a:rPr>
              <a:t>PAPER FINDING — NOT MY EXPERIMENT</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Main evidence: a strong TorchHub result</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Paper Table 1, p. 8; metric caveats in §4.1, p. 7.</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06 / 12</a:t>
            </a:r>
            <a:endParaRPr lang="en-US" sz="1000" dirty="0">
              <a:latin typeface="Calibri"/>
            </a:endParaRPr>
          </a:p>
        </p:txBody>
      </p:sp>
      <p:sp>
        <p:nvSpPr>
          <p:cNvPr id="7" name="TextBox 6"/>
          <p:cNvSpPr txBox="1"/>
          <p:nvPr/>
        </p:nvSpPr>
        <p:spPr>
          <a:xfrm>
            <a:off x="533400" y="1244600"/>
            <a:ext cx="111252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No retriever at inference • fine-tuned Gorilla versus GPT-4</a:t>
            </a:r>
            <a:endParaRPr lang="en-US" sz="2000" dirty="0">
              <a:latin typeface="Calibri"/>
            </a:endParaRPr>
          </a:p>
        </p:txBody>
      </p:sp>
      <p:sp>
        <p:nvSpPr>
          <p:cNvPr id="8" name="Rounded Rectangle 7"/>
          <p:cNvSpPr/>
          <p:nvPr/>
        </p:nvSpPr>
        <p:spPr>
          <a:xfrm>
            <a:off x="533400" y="1778000"/>
            <a:ext cx="5397500" cy="218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3400" y="1854200"/>
            <a:ext cx="5397500" cy="355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200" b="1" dirty="0">
                <a:solidFill>
                  <a:srgbClr val="000000"/>
                </a:solidFill>
                <a:latin typeface="Calibri"/>
                <a:cs typeface="Calibri"/>
              </a:rPr>
              <a:t>Correct API (%)</a:t>
            </a:r>
            <a:endParaRPr lang="en-US" sz="2200" dirty="0">
              <a:latin typeface="Calibri"/>
            </a:endParaRPr>
          </a:p>
        </p:txBody>
      </p:sp>
      <p:sp>
        <p:nvSpPr>
          <p:cNvPr id="10" name="TextBox 9"/>
          <p:cNvSpPr txBox="1"/>
          <p:nvPr/>
        </p:nvSpPr>
        <p:spPr>
          <a:xfrm>
            <a:off x="533400" y="2260600"/>
            <a:ext cx="53975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0" dirty="0">
                <a:solidFill>
                  <a:srgbClr val="000000"/>
                </a:solidFill>
                <a:latin typeface="Calibri"/>
                <a:cs typeface="Calibri"/>
              </a:rPr>
              <a:t>Higher is better</a:t>
            </a:r>
            <a:endParaRPr lang="en-US" sz="1400" dirty="0">
              <a:latin typeface="Calibri"/>
            </a:endParaRPr>
          </a:p>
        </p:txBody>
      </p:sp>
      <p:sp>
        <p:nvSpPr>
          <p:cNvPr id="11" name="TextBox 10"/>
          <p:cNvSpPr txBox="1"/>
          <p:nvPr/>
        </p:nvSpPr>
        <p:spPr>
          <a:xfrm>
            <a:off x="533400" y="2819400"/>
            <a:ext cx="1219200" cy="304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000000"/>
                </a:solidFill>
                <a:latin typeface="Calibri"/>
                <a:cs typeface="Calibri"/>
              </a:rPr>
              <a:t>Gorilla</a:t>
            </a:r>
            <a:endParaRPr lang="en-US" sz="1800" dirty="0">
              <a:latin typeface="Calibri"/>
            </a:endParaRPr>
          </a:p>
        </p:txBody>
      </p:sp>
      <p:sp>
        <p:nvSpPr>
          <p:cNvPr id="12" name="Rectangle 11"/>
          <p:cNvSpPr/>
          <p:nvPr/>
        </p:nvSpPr>
        <p:spPr>
          <a:xfrm>
            <a:off x="1841500" y="2819400"/>
            <a:ext cx="2997200" cy="30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841500" y="2819400"/>
            <a:ext cx="1772285" cy="304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27600" y="2819400"/>
            <a:ext cx="736600" cy="3048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1" dirty="0">
                <a:solidFill>
                  <a:srgbClr val="000000"/>
                </a:solidFill>
                <a:latin typeface="Calibri"/>
                <a:cs typeface="Calibri"/>
              </a:rPr>
              <a:t>59.13</a:t>
            </a:r>
            <a:endParaRPr lang="en-US" sz="1800" dirty="0">
              <a:latin typeface="Calibri"/>
            </a:endParaRPr>
          </a:p>
        </p:txBody>
      </p:sp>
      <p:sp>
        <p:nvSpPr>
          <p:cNvPr id="15" name="TextBox 14"/>
          <p:cNvSpPr txBox="1"/>
          <p:nvPr/>
        </p:nvSpPr>
        <p:spPr>
          <a:xfrm>
            <a:off x="533400" y="3479800"/>
            <a:ext cx="1219200" cy="304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000000"/>
                </a:solidFill>
                <a:latin typeface="Calibri"/>
                <a:cs typeface="Calibri"/>
              </a:rPr>
              <a:t>GPT-4</a:t>
            </a:r>
            <a:endParaRPr lang="en-US" sz="1800" dirty="0">
              <a:latin typeface="Calibri"/>
            </a:endParaRPr>
          </a:p>
        </p:txBody>
      </p:sp>
      <p:sp>
        <p:nvSpPr>
          <p:cNvPr id="16" name="Rectangle 15"/>
          <p:cNvSpPr/>
          <p:nvPr/>
        </p:nvSpPr>
        <p:spPr>
          <a:xfrm>
            <a:off x="1841500" y="3479800"/>
            <a:ext cx="2997200" cy="30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41500" y="3479800"/>
            <a:ext cx="1159891" cy="30480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27600" y="3479800"/>
            <a:ext cx="736600" cy="3048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1" dirty="0">
                <a:solidFill>
                  <a:srgbClr val="000000"/>
                </a:solidFill>
                <a:latin typeface="Calibri"/>
                <a:cs typeface="Calibri"/>
              </a:rPr>
              <a:t>38.70</a:t>
            </a:r>
            <a:endParaRPr lang="en-US" sz="1800" dirty="0">
              <a:latin typeface="Calibri"/>
            </a:endParaRPr>
          </a:p>
        </p:txBody>
      </p:sp>
      <p:sp>
        <p:nvSpPr>
          <p:cNvPr id="19" name="Rounded Rectangle 18"/>
          <p:cNvSpPr/>
          <p:nvPr/>
        </p:nvSpPr>
        <p:spPr>
          <a:xfrm>
            <a:off x="6261100" y="1778000"/>
            <a:ext cx="5397500" cy="218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1100" y="1854200"/>
            <a:ext cx="5397500" cy="355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200" b="1" dirty="0">
                <a:solidFill>
                  <a:srgbClr val="000000"/>
                </a:solidFill>
                <a:latin typeface="Calibri"/>
                <a:cs typeface="Calibri"/>
              </a:rPr>
              <a:t>Hallucination (%)</a:t>
            </a:r>
            <a:endParaRPr lang="en-US" sz="2200" dirty="0">
              <a:latin typeface="Calibri"/>
            </a:endParaRPr>
          </a:p>
        </p:txBody>
      </p:sp>
      <p:sp>
        <p:nvSpPr>
          <p:cNvPr id="21" name="TextBox 20"/>
          <p:cNvSpPr txBox="1"/>
          <p:nvPr/>
        </p:nvSpPr>
        <p:spPr>
          <a:xfrm>
            <a:off x="6261100" y="2260600"/>
            <a:ext cx="53975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0" dirty="0">
                <a:solidFill>
                  <a:srgbClr val="000000"/>
                </a:solidFill>
                <a:latin typeface="Calibri"/>
                <a:cs typeface="Calibri"/>
              </a:rPr>
              <a:t>Lower is better</a:t>
            </a:r>
            <a:endParaRPr lang="en-US" sz="1400" dirty="0">
              <a:latin typeface="Calibri"/>
            </a:endParaRPr>
          </a:p>
        </p:txBody>
      </p:sp>
      <p:sp>
        <p:nvSpPr>
          <p:cNvPr id="22" name="TextBox 21"/>
          <p:cNvSpPr txBox="1"/>
          <p:nvPr/>
        </p:nvSpPr>
        <p:spPr>
          <a:xfrm>
            <a:off x="6261100" y="2819400"/>
            <a:ext cx="1219200" cy="304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000000"/>
                </a:solidFill>
                <a:latin typeface="Calibri"/>
                <a:cs typeface="Calibri"/>
              </a:rPr>
              <a:t>Gorilla</a:t>
            </a:r>
            <a:endParaRPr lang="en-US" sz="1800" dirty="0">
              <a:latin typeface="Calibri"/>
            </a:endParaRPr>
          </a:p>
        </p:txBody>
      </p:sp>
      <p:sp>
        <p:nvSpPr>
          <p:cNvPr id="23" name="Rectangle 22"/>
          <p:cNvSpPr/>
          <p:nvPr/>
        </p:nvSpPr>
        <p:spPr>
          <a:xfrm>
            <a:off x="7569200" y="2819400"/>
            <a:ext cx="2997200" cy="30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569200" y="2819400"/>
            <a:ext cx="209169" cy="304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655300" y="2819400"/>
            <a:ext cx="736600" cy="3048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1" dirty="0">
                <a:solidFill>
                  <a:srgbClr val="000000"/>
                </a:solidFill>
                <a:latin typeface="Calibri"/>
                <a:cs typeface="Calibri"/>
              </a:rPr>
              <a:t>6.98</a:t>
            </a:r>
            <a:endParaRPr lang="en-US" sz="1800" dirty="0">
              <a:latin typeface="Calibri"/>
            </a:endParaRPr>
          </a:p>
        </p:txBody>
      </p:sp>
      <p:sp>
        <p:nvSpPr>
          <p:cNvPr id="26" name="TextBox 25"/>
          <p:cNvSpPr txBox="1"/>
          <p:nvPr/>
        </p:nvSpPr>
        <p:spPr>
          <a:xfrm>
            <a:off x="6261100" y="3479800"/>
            <a:ext cx="1219200" cy="304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000000"/>
                </a:solidFill>
                <a:latin typeface="Calibri"/>
                <a:cs typeface="Calibri"/>
              </a:rPr>
              <a:t>GPT-4</a:t>
            </a:r>
            <a:endParaRPr lang="en-US" sz="1800" dirty="0">
              <a:latin typeface="Calibri"/>
            </a:endParaRPr>
          </a:p>
        </p:txBody>
      </p:sp>
      <p:sp>
        <p:nvSpPr>
          <p:cNvPr id="27" name="Rectangle 26"/>
          <p:cNvSpPr/>
          <p:nvPr/>
        </p:nvSpPr>
        <p:spPr>
          <a:xfrm>
            <a:off x="7569200" y="3479800"/>
            <a:ext cx="2997200" cy="30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569200" y="3479800"/>
            <a:ext cx="1095502" cy="30480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55300" y="3479800"/>
            <a:ext cx="736600" cy="3048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1" dirty="0">
                <a:solidFill>
                  <a:srgbClr val="000000"/>
                </a:solidFill>
                <a:latin typeface="Calibri"/>
                <a:cs typeface="Calibri"/>
              </a:rPr>
              <a:t>36.55</a:t>
            </a:r>
            <a:endParaRPr lang="en-US" sz="1800" dirty="0">
              <a:latin typeface="Calibri"/>
            </a:endParaRPr>
          </a:p>
        </p:txBody>
      </p:sp>
      <p:sp>
        <p:nvSpPr>
          <p:cNvPr id="30" name="Rounded Rectangle 29"/>
          <p:cNvSpPr/>
          <p:nvPr/>
        </p:nvSpPr>
        <p:spPr>
          <a:xfrm>
            <a:off x="533400" y="4445000"/>
            <a:ext cx="11125200" cy="609600"/>
          </a:xfrm>
          <a:prstGeom prst="roundRect">
            <a:avLst>
              <a:gd name="adj" fmla="val 12000"/>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2000" y="4445000"/>
            <a:ext cx="10668000" cy="6096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2000" b="1" dirty="0">
                <a:solidFill>
                  <a:srgbClr val="2563EB"/>
                </a:solidFill>
                <a:latin typeface="Calibri"/>
                <a:cs typeface="Calibri"/>
              </a:rPr>
              <a:t>Accuracy gain on this setting: +20.43 percentage points.</a:t>
            </a:r>
            <a:endParaRPr lang="en-US" sz="2000" dirty="0">
              <a:latin typeface="Calibri"/>
            </a:endParaRPr>
          </a:p>
        </p:txBody>
      </p:sp>
      <p:sp>
        <p:nvSpPr>
          <p:cNvPr id="32" name="TextBox 31"/>
          <p:cNvSpPr txBox="1"/>
          <p:nvPr/>
        </p:nvSpPr>
        <p:spPr>
          <a:xfrm>
            <a:off x="533400" y="5232400"/>
            <a:ext cx="11125200" cy="279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600" b="0" dirty="0">
                <a:solidFill>
                  <a:srgbClr val="000000"/>
                </a:solidFill>
                <a:latin typeface="Calibri"/>
                <a:cs typeface="Calibri"/>
              </a:rPr>
              <a:t>The comparison changes with the dataset, retrieval method, and scoring rule.</a:t>
            </a:r>
            <a:endParaRPr lang="en-US" sz="1600" dirty="0">
              <a:latin typeface="Calibri"/>
            </a:endParaRPr>
          </a:p>
        </p:txBody>
      </p:sp>
    </p:spTree>
    <p:extLst>
      <p:ext uri="{BB962C8B-B14F-4D97-AF65-F5344CB8AC3E}">
        <p14:creationId xmlns:p14="http://schemas.microsoft.com/office/powerpoint/2010/main" val="1042284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2563EB"/>
                </a:solidFill>
                <a:latin typeface="Calibri"/>
                <a:cs typeface="Calibri"/>
              </a:rPr>
              <a:t>PAPER ABLATION — NOT MY REMOVAL TEST</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Ablation: training changes how retrieval helps</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Paper Table 2, p. 8; retriever-aware training, p. 5; discussion, p. 7.</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07 / 12</a:t>
            </a:r>
            <a:endParaRPr lang="en-US" sz="1000" dirty="0">
              <a:latin typeface="Calibri"/>
            </a:endParaRPr>
          </a:p>
        </p:txBody>
      </p:sp>
      <p:sp>
        <p:nvSpPr>
          <p:cNvPr id="7" name="TextBox 6"/>
          <p:cNvSpPr txBox="1"/>
          <p:nvPr/>
        </p:nvSpPr>
        <p:spPr>
          <a:xfrm>
            <a:off x="533400" y="1244600"/>
            <a:ext cx="111252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TorchHub accuracy (%) • rows: training; columns: retrieval at inference</a:t>
            </a:r>
            <a:endParaRPr lang="en-US" sz="2000" dirty="0">
              <a:latin typeface="Calibri"/>
            </a:endParaRPr>
          </a:p>
        </p:txBody>
      </p:sp>
      <p:sp>
        <p:nvSpPr>
          <p:cNvPr id="8" name="Rectangle 7"/>
          <p:cNvSpPr/>
          <p:nvPr/>
        </p:nvSpPr>
        <p:spPr>
          <a:xfrm>
            <a:off x="533400" y="1727200"/>
            <a:ext cx="3429000" cy="635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727200"/>
            <a:ext cx="3124200" cy="635000"/>
          </a:xfrm>
          <a:prstGeom prst="rect">
            <a:avLst/>
          </a:prstGeom>
          <a:noFill/>
        </p:spPr>
        <p:txBody>
          <a:bodyPr wrap="square" lIns="0" tIns="0" rIns="0" bIns="0" anchor="ctr">
            <a:noAutofit/>
          </a:bodyPr>
          <a:lstStyle/>
          <a:p>
            <a:pPr marL="0" indent="0" algn="l">
              <a:lnSpc>
                <a:spcPct val="100000"/>
              </a:lnSpc>
              <a:spcBef>
                <a:spcPts val="0"/>
              </a:spcBef>
              <a:spcAft>
                <a:spcPts val="0"/>
              </a:spcAft>
              <a:buNone/>
            </a:pPr>
            <a:r>
              <a:rPr lang="en-US" sz="1800" b="1" dirty="0">
                <a:solidFill>
                  <a:srgbClr val="FFFFFF"/>
                </a:solidFill>
                <a:latin typeface="Calibri"/>
                <a:cs typeface="Calibri"/>
              </a:rPr>
              <a:t>Training documents</a:t>
            </a:r>
            <a:endParaRPr lang="en-US" sz="1800" dirty="0">
              <a:latin typeface="Calibri"/>
            </a:endParaRPr>
          </a:p>
        </p:txBody>
      </p:sp>
      <p:sp>
        <p:nvSpPr>
          <p:cNvPr id="10" name="Rectangle 9"/>
          <p:cNvSpPr/>
          <p:nvPr/>
        </p:nvSpPr>
        <p:spPr>
          <a:xfrm>
            <a:off x="3962400" y="1727200"/>
            <a:ext cx="1905000" cy="635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0" y="1727200"/>
            <a:ext cx="13970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1" dirty="0">
                <a:solidFill>
                  <a:srgbClr val="FFFFFF"/>
                </a:solidFill>
                <a:latin typeface="Calibri"/>
                <a:cs typeface="Calibri"/>
              </a:rPr>
              <a:t>None</a:t>
            </a:r>
            <a:endParaRPr lang="en-US" sz="1800" dirty="0">
              <a:latin typeface="Calibri"/>
            </a:endParaRPr>
          </a:p>
        </p:txBody>
      </p:sp>
      <p:sp>
        <p:nvSpPr>
          <p:cNvPr id="12" name="Rectangle 11"/>
          <p:cNvSpPr/>
          <p:nvPr/>
        </p:nvSpPr>
        <p:spPr>
          <a:xfrm>
            <a:off x="5867400" y="1727200"/>
            <a:ext cx="1905000" cy="635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19800" y="1727200"/>
            <a:ext cx="13970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1" dirty="0">
                <a:solidFill>
                  <a:srgbClr val="FFFFFF"/>
                </a:solidFill>
                <a:latin typeface="Calibri"/>
                <a:cs typeface="Calibri"/>
              </a:rPr>
              <a:t>BM25</a:t>
            </a:r>
            <a:endParaRPr lang="en-US" sz="1800" dirty="0">
              <a:latin typeface="Calibri"/>
            </a:endParaRPr>
          </a:p>
        </p:txBody>
      </p:sp>
      <p:sp>
        <p:nvSpPr>
          <p:cNvPr id="14" name="Rectangle 13"/>
          <p:cNvSpPr/>
          <p:nvPr/>
        </p:nvSpPr>
        <p:spPr>
          <a:xfrm>
            <a:off x="7772400" y="1727200"/>
            <a:ext cx="1905000" cy="635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24800" y="1727200"/>
            <a:ext cx="13970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1" dirty="0">
                <a:solidFill>
                  <a:srgbClr val="FFFFFF"/>
                </a:solidFill>
                <a:latin typeface="Calibri"/>
                <a:cs typeface="Calibri"/>
              </a:rPr>
              <a:t>GPT-Index</a:t>
            </a:r>
            <a:endParaRPr lang="en-US" sz="1800" dirty="0">
              <a:latin typeface="Calibri"/>
            </a:endParaRPr>
          </a:p>
        </p:txBody>
      </p:sp>
      <p:sp>
        <p:nvSpPr>
          <p:cNvPr id="16" name="Rectangle 15"/>
          <p:cNvSpPr/>
          <p:nvPr/>
        </p:nvSpPr>
        <p:spPr>
          <a:xfrm>
            <a:off x="9677400" y="1727200"/>
            <a:ext cx="1981200" cy="635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9800" y="1727200"/>
            <a:ext cx="14732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1" dirty="0">
                <a:solidFill>
                  <a:srgbClr val="FFFFFF"/>
                </a:solidFill>
                <a:latin typeface="Calibri"/>
                <a:cs typeface="Calibri"/>
              </a:rPr>
              <a:t>Oracle</a:t>
            </a:r>
            <a:endParaRPr lang="en-US" sz="1800" dirty="0">
              <a:latin typeface="Calibri"/>
            </a:endParaRPr>
          </a:p>
        </p:txBody>
      </p:sp>
      <p:sp>
        <p:nvSpPr>
          <p:cNvPr id="18" name="Rectangle 17"/>
          <p:cNvSpPr/>
          <p:nvPr/>
        </p:nvSpPr>
        <p:spPr>
          <a:xfrm>
            <a:off x="533400" y="2387600"/>
            <a:ext cx="34290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2387600"/>
            <a:ext cx="3124200" cy="635000"/>
          </a:xfrm>
          <a:prstGeom prst="rect">
            <a:avLst/>
          </a:prstGeom>
          <a:noFill/>
        </p:spPr>
        <p:txBody>
          <a:bodyPr wrap="square" lIns="0" tIns="0" rIns="0" bIns="0" anchor="ctr">
            <a:noAutofit/>
          </a:bodyPr>
          <a:lstStyle/>
          <a:p>
            <a:pPr marL="0" indent="0" algn="l">
              <a:lnSpc>
                <a:spcPct val="100000"/>
              </a:lnSpc>
              <a:spcBef>
                <a:spcPts val="0"/>
              </a:spcBef>
              <a:spcAft>
                <a:spcPts val="0"/>
              </a:spcAft>
              <a:buNone/>
            </a:pPr>
            <a:r>
              <a:rPr lang="en-US" sz="1800" b="1" dirty="0">
                <a:solidFill>
                  <a:srgbClr val="000000"/>
                </a:solidFill>
                <a:latin typeface="Calibri"/>
                <a:cs typeface="Calibri"/>
              </a:rPr>
              <a:t>None</a:t>
            </a:r>
            <a:endParaRPr lang="en-US" sz="1800" dirty="0">
              <a:latin typeface="Calibri"/>
            </a:endParaRPr>
          </a:p>
        </p:txBody>
      </p:sp>
      <p:sp>
        <p:nvSpPr>
          <p:cNvPr id="20" name="Rectangle 19"/>
          <p:cNvSpPr/>
          <p:nvPr/>
        </p:nvSpPr>
        <p:spPr>
          <a:xfrm>
            <a:off x="3962400" y="2387600"/>
            <a:ext cx="19050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0" y="2387600"/>
            <a:ext cx="13970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0" dirty="0">
                <a:solidFill>
                  <a:srgbClr val="000000"/>
                </a:solidFill>
                <a:latin typeface="Calibri"/>
                <a:cs typeface="Calibri"/>
              </a:rPr>
              <a:t>59.13</a:t>
            </a:r>
            <a:endParaRPr lang="en-US" sz="1800" dirty="0">
              <a:latin typeface="Calibri"/>
            </a:endParaRPr>
          </a:p>
        </p:txBody>
      </p:sp>
      <p:sp>
        <p:nvSpPr>
          <p:cNvPr id="22" name="Rectangle 21"/>
          <p:cNvSpPr/>
          <p:nvPr/>
        </p:nvSpPr>
        <p:spPr>
          <a:xfrm>
            <a:off x="5867400" y="2387600"/>
            <a:ext cx="19050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19800" y="2387600"/>
            <a:ext cx="13970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0" dirty="0">
                <a:solidFill>
                  <a:srgbClr val="000000"/>
                </a:solidFill>
                <a:latin typeface="Calibri"/>
                <a:cs typeface="Calibri"/>
              </a:rPr>
              <a:t>37.63</a:t>
            </a:r>
            <a:endParaRPr lang="en-US" sz="1800" dirty="0">
              <a:latin typeface="Calibri"/>
            </a:endParaRPr>
          </a:p>
        </p:txBody>
      </p:sp>
      <p:sp>
        <p:nvSpPr>
          <p:cNvPr id="24" name="Rectangle 23"/>
          <p:cNvSpPr/>
          <p:nvPr/>
        </p:nvSpPr>
        <p:spPr>
          <a:xfrm>
            <a:off x="7772400" y="2387600"/>
            <a:ext cx="19050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24800" y="2387600"/>
            <a:ext cx="13970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0" dirty="0">
                <a:solidFill>
                  <a:srgbClr val="000000"/>
                </a:solidFill>
                <a:latin typeface="Calibri"/>
                <a:cs typeface="Calibri"/>
              </a:rPr>
              <a:t>60.21</a:t>
            </a:r>
            <a:endParaRPr lang="en-US" sz="1800" dirty="0">
              <a:latin typeface="Calibri"/>
            </a:endParaRPr>
          </a:p>
        </p:txBody>
      </p:sp>
      <p:sp>
        <p:nvSpPr>
          <p:cNvPr id="26" name="Rectangle 25"/>
          <p:cNvSpPr/>
          <p:nvPr/>
        </p:nvSpPr>
        <p:spPr>
          <a:xfrm>
            <a:off x="9677400" y="2387600"/>
            <a:ext cx="1981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9800" y="2387600"/>
            <a:ext cx="14732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0" dirty="0">
                <a:solidFill>
                  <a:srgbClr val="000000"/>
                </a:solidFill>
                <a:latin typeface="Calibri"/>
                <a:cs typeface="Calibri"/>
              </a:rPr>
              <a:t>54.83</a:t>
            </a:r>
            <a:endParaRPr lang="en-US" sz="1800" dirty="0">
              <a:latin typeface="Calibri"/>
            </a:endParaRPr>
          </a:p>
        </p:txBody>
      </p:sp>
      <p:sp>
        <p:nvSpPr>
          <p:cNvPr id="28" name="Rectangle 27"/>
          <p:cNvSpPr/>
          <p:nvPr/>
        </p:nvSpPr>
        <p:spPr>
          <a:xfrm>
            <a:off x="533400" y="3048000"/>
            <a:ext cx="3429000" cy="635000"/>
          </a:xfrm>
          <a:prstGeom prst="rect">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3048000"/>
            <a:ext cx="3124200" cy="635000"/>
          </a:xfrm>
          <a:prstGeom prst="rect">
            <a:avLst/>
          </a:prstGeom>
          <a:noFill/>
        </p:spPr>
        <p:txBody>
          <a:bodyPr wrap="square" lIns="0" tIns="0" rIns="0" bIns="0" anchor="ctr">
            <a:noAutofit/>
          </a:bodyPr>
          <a:lstStyle/>
          <a:p>
            <a:pPr marL="0" indent="0" algn="l">
              <a:lnSpc>
                <a:spcPct val="100000"/>
              </a:lnSpc>
              <a:spcBef>
                <a:spcPts val="0"/>
              </a:spcBef>
              <a:spcAft>
                <a:spcPts val="0"/>
              </a:spcAft>
              <a:buNone/>
            </a:pPr>
            <a:r>
              <a:rPr lang="en-US" sz="1800" b="1" dirty="0">
                <a:solidFill>
                  <a:srgbClr val="000000"/>
                </a:solidFill>
                <a:latin typeface="Calibri"/>
                <a:cs typeface="Calibri"/>
              </a:rPr>
              <a:t>Oracle documents</a:t>
            </a:r>
            <a:endParaRPr lang="en-US" sz="1800" dirty="0">
              <a:latin typeface="Calibri"/>
            </a:endParaRPr>
          </a:p>
        </p:txBody>
      </p:sp>
      <p:sp>
        <p:nvSpPr>
          <p:cNvPr id="30" name="Rectangle 29"/>
          <p:cNvSpPr/>
          <p:nvPr/>
        </p:nvSpPr>
        <p:spPr>
          <a:xfrm>
            <a:off x="3962400" y="3048000"/>
            <a:ext cx="1905000" cy="635000"/>
          </a:xfrm>
          <a:prstGeom prst="rect">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0" y="3048000"/>
            <a:ext cx="13970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0" dirty="0">
                <a:solidFill>
                  <a:srgbClr val="000000"/>
                </a:solidFill>
                <a:latin typeface="Calibri"/>
                <a:cs typeface="Calibri"/>
              </a:rPr>
              <a:t>0.00</a:t>
            </a:r>
            <a:endParaRPr lang="en-US" sz="1800" dirty="0">
              <a:latin typeface="Calibri"/>
            </a:endParaRPr>
          </a:p>
        </p:txBody>
      </p:sp>
      <p:sp>
        <p:nvSpPr>
          <p:cNvPr id="32" name="Rectangle 31"/>
          <p:cNvSpPr/>
          <p:nvPr/>
        </p:nvSpPr>
        <p:spPr>
          <a:xfrm>
            <a:off x="5867400" y="3048000"/>
            <a:ext cx="1905000" cy="635000"/>
          </a:xfrm>
          <a:prstGeom prst="rect">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19800" y="3048000"/>
            <a:ext cx="13970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0" dirty="0">
                <a:solidFill>
                  <a:srgbClr val="000000"/>
                </a:solidFill>
                <a:latin typeface="Calibri"/>
                <a:cs typeface="Calibri"/>
              </a:rPr>
              <a:t>40.32</a:t>
            </a:r>
            <a:endParaRPr lang="en-US" sz="1800" dirty="0">
              <a:latin typeface="Calibri"/>
            </a:endParaRPr>
          </a:p>
        </p:txBody>
      </p:sp>
      <p:sp>
        <p:nvSpPr>
          <p:cNvPr id="34" name="Rectangle 33"/>
          <p:cNvSpPr/>
          <p:nvPr/>
        </p:nvSpPr>
        <p:spPr>
          <a:xfrm>
            <a:off x="7772400" y="3048000"/>
            <a:ext cx="1905000" cy="635000"/>
          </a:xfrm>
          <a:prstGeom prst="rect">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24800" y="3048000"/>
            <a:ext cx="13970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0" dirty="0">
                <a:solidFill>
                  <a:srgbClr val="000000"/>
                </a:solidFill>
                <a:latin typeface="Calibri"/>
                <a:cs typeface="Calibri"/>
              </a:rPr>
              <a:t>61.82</a:t>
            </a:r>
            <a:endParaRPr lang="en-US" sz="1800" dirty="0">
              <a:latin typeface="Calibri"/>
            </a:endParaRPr>
          </a:p>
        </p:txBody>
      </p:sp>
      <p:sp>
        <p:nvSpPr>
          <p:cNvPr id="36" name="Rectangle 35"/>
          <p:cNvSpPr/>
          <p:nvPr/>
        </p:nvSpPr>
        <p:spPr>
          <a:xfrm>
            <a:off x="9677400" y="3048000"/>
            <a:ext cx="1981200" cy="635000"/>
          </a:xfrm>
          <a:prstGeom prst="rect">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829800" y="3048000"/>
            <a:ext cx="1473200" cy="635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800" b="0" dirty="0">
                <a:solidFill>
                  <a:srgbClr val="000000"/>
                </a:solidFill>
                <a:latin typeface="Calibri"/>
                <a:cs typeface="Calibri"/>
              </a:rPr>
              <a:t>67.20</a:t>
            </a:r>
            <a:endParaRPr lang="en-US" sz="1800" dirty="0">
              <a:latin typeface="Calibri"/>
            </a:endParaRPr>
          </a:p>
        </p:txBody>
      </p:sp>
      <p:sp>
        <p:nvSpPr>
          <p:cNvPr id="38" name="Rounded Rectangle 37"/>
          <p:cNvSpPr/>
          <p:nvPr/>
        </p:nvSpPr>
        <p:spPr>
          <a:xfrm>
            <a:off x="533400" y="4064000"/>
            <a:ext cx="5397500" cy="1524000"/>
          </a:xfrm>
          <a:prstGeom prst="roundRect">
            <a:avLst>
              <a:gd name="adj" fmla="val 12000"/>
            </a:avLst>
          </a:prstGeom>
          <a:solidFill>
            <a:srgbClr val="E9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33400" y="4064000"/>
            <a:ext cx="50800" cy="152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7400" y="42926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2563EB"/>
                </a:solidFill>
                <a:latin typeface="Calibri"/>
                <a:cs typeface="Calibri"/>
              </a:rPr>
              <a:t>Oracle → oracle: +12.37 pp</a:t>
            </a:r>
            <a:endParaRPr lang="en-US" sz="2000" dirty="0">
              <a:latin typeface="Calibri"/>
            </a:endParaRPr>
          </a:p>
        </p:txBody>
      </p:sp>
      <p:sp>
        <p:nvSpPr>
          <p:cNvPr id="41" name="TextBox 40"/>
          <p:cNvSpPr txBox="1"/>
          <p:nvPr/>
        </p:nvSpPr>
        <p:spPr>
          <a:xfrm>
            <a:off x="787400" y="4724400"/>
            <a:ext cx="4889500" cy="711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67.20 − 54.83, with the test retriever fixed.</a:t>
            </a:r>
            <a:endParaRPr lang="en-US" sz="2000" dirty="0">
              <a:latin typeface="Calibri"/>
            </a:endParaRPr>
          </a:p>
        </p:txBody>
      </p:sp>
      <p:sp>
        <p:nvSpPr>
          <p:cNvPr id="42" name="Rounded Rectangle 41"/>
          <p:cNvSpPr/>
          <p:nvPr/>
        </p:nvSpPr>
        <p:spPr>
          <a:xfrm>
            <a:off x="6261100" y="4064000"/>
            <a:ext cx="5397500" cy="1524000"/>
          </a:xfrm>
          <a:prstGeom prst="roundRect">
            <a:avLst>
              <a:gd name="adj" fmla="val 12000"/>
            </a:avLst>
          </a:prstGeom>
          <a:solidFill>
            <a:srgbClr val="FB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61100" y="4064000"/>
            <a:ext cx="50800" cy="1524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15100" y="42926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B45309"/>
                </a:solidFill>
                <a:latin typeface="Calibri"/>
                <a:cs typeface="Calibri"/>
              </a:rPr>
              <a:t>Important counterexample</a:t>
            </a:r>
            <a:endParaRPr lang="en-US" sz="2000" dirty="0">
              <a:latin typeface="Calibri"/>
            </a:endParaRPr>
          </a:p>
        </p:txBody>
      </p:sp>
      <p:sp>
        <p:nvSpPr>
          <p:cNvPr id="45" name="TextBox 44"/>
          <p:cNvSpPr txBox="1"/>
          <p:nvPr/>
        </p:nvSpPr>
        <p:spPr>
          <a:xfrm>
            <a:off x="6515100" y="4724400"/>
            <a:ext cx="4889500" cy="711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Oracle-trained model + no retrieved document: 0%.</a:t>
            </a:r>
            <a:endParaRPr lang="en-US" sz="2000" dirty="0">
              <a:latin typeface="Calibri"/>
            </a:endParaRPr>
          </a:p>
        </p:txBody>
      </p:sp>
    </p:spTree>
    <p:extLst>
      <p:ext uri="{BB962C8B-B14F-4D97-AF65-F5344CB8AC3E}">
        <p14:creationId xmlns:p14="http://schemas.microsoft.com/office/powerpoint/2010/main" val="744153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0F766E"/>
                </a:solidFill>
                <a:latin typeface="Calibri"/>
                <a:cs typeface="Calibri"/>
              </a:rPr>
              <a:t>MY EXPERIMENT — NO FINE-TUNING</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My reproduction setup</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data/apis.json metadata; query/answer metadata; replacement audit; saved model protocols.</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08 / 12</a:t>
            </a:r>
            <a:endParaRPr lang="en-US" sz="1000" dirty="0">
              <a:latin typeface="Calibri"/>
            </a:endParaRPr>
          </a:p>
        </p:txBody>
      </p:sp>
      <p:sp>
        <p:nvSpPr>
          <p:cNvPr id="7" name="Rounded Rectangle 6"/>
          <p:cNvSpPr/>
          <p:nvPr/>
        </p:nvSpPr>
        <p:spPr>
          <a:xfrm>
            <a:off x="533400" y="1371600"/>
            <a:ext cx="5397500" cy="2133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3400" y="1371600"/>
            <a:ext cx="50800" cy="21336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7400" y="15748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1 Corpus collection</a:t>
            </a:r>
            <a:endParaRPr lang="en-US" sz="2000" dirty="0">
              <a:latin typeface="Calibri"/>
            </a:endParaRPr>
          </a:p>
        </p:txBody>
      </p:sp>
      <p:sp>
        <p:nvSpPr>
          <p:cNvPr id="10" name="TextBox 9"/>
          <p:cNvSpPr txBox="1"/>
          <p:nvPr/>
        </p:nvSpPr>
        <p:spPr>
          <a:xfrm>
            <a:off x="787400" y="2032000"/>
            <a:ext cx="4889500" cy="1346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Selected 30 operations / 10 resources from Kubernetes v1.35.2 release and live OpenAPI.</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Retained descriptions, arguments,</a:t>
            </a:r>
            <a:br>
              <a:rPr lang="en-US" sz="1800" b="0" dirty="0">
                <a:solidFill>
                  <a:srgbClr val="000000"/>
                </a:solidFill>
                <a:latin typeface="Calibri"/>
                <a:cs typeface="Calibri"/>
              </a:rPr>
            </a:br>
            <a:r>
              <a:rPr lang="en-US" sz="1800" b="0" dirty="0">
                <a:solidFill>
                  <a:srgbClr val="000000"/>
                </a:solidFill>
                <a:latin typeface="Calibri"/>
                <a:cs typeface="Calibri"/>
              </a:rPr>
              <a:t>source URLs and versions.</a:t>
            </a:r>
            <a:endParaRPr lang="en-US" sz="1800" dirty="0">
              <a:latin typeface="Calibri"/>
            </a:endParaRPr>
          </a:p>
        </p:txBody>
      </p:sp>
      <p:sp>
        <p:nvSpPr>
          <p:cNvPr id="11" name="Rounded Rectangle 10"/>
          <p:cNvSpPr/>
          <p:nvPr/>
        </p:nvSpPr>
        <p:spPr>
          <a:xfrm>
            <a:off x="6261100" y="1371600"/>
            <a:ext cx="5397500" cy="2133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1100" y="1371600"/>
            <a:ext cx="50800" cy="21336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5100" y="15748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2 Queries and references</a:t>
            </a:r>
            <a:endParaRPr lang="en-US" sz="2000" dirty="0">
              <a:latin typeface="Calibri"/>
            </a:endParaRPr>
          </a:p>
        </p:txBody>
      </p:sp>
      <p:sp>
        <p:nvSpPr>
          <p:cNvPr id="14" name="TextBox 13"/>
          <p:cNvSpPr txBox="1"/>
          <p:nvPr/>
        </p:nvSpPr>
        <p:spPr>
          <a:xfrm>
            <a:off x="6515100" y="2032000"/>
            <a:ext cx="4889500" cy="1346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20 user-drafted requests, locally revised.</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Read/dry-run verified references;</a:t>
            </a:r>
            <a:br>
              <a:rPr lang="en-US" sz="1800" b="0" dirty="0">
                <a:solidFill>
                  <a:srgbClr val="000000"/>
                </a:solidFill>
                <a:latin typeface="Calibri"/>
                <a:cs typeface="Calibri"/>
              </a:rPr>
            </a:br>
            <a:r>
              <a:rPr lang="en-US" sz="1800" b="0" dirty="0">
                <a:solidFill>
                  <a:srgbClr val="000000"/>
                </a:solidFill>
                <a:latin typeface="Calibri"/>
                <a:cs typeface="Calibri"/>
              </a:rPr>
              <a:t>19 distinct correct APIs.</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Answers excluded from model input.</a:t>
            </a:r>
            <a:endParaRPr lang="en-US" sz="1800" dirty="0">
              <a:latin typeface="Calibri"/>
            </a:endParaRPr>
          </a:p>
        </p:txBody>
      </p:sp>
      <p:sp>
        <p:nvSpPr>
          <p:cNvPr id="15" name="Rounded Rectangle 14"/>
          <p:cNvSpPr/>
          <p:nvPr/>
        </p:nvSpPr>
        <p:spPr>
          <a:xfrm>
            <a:off x="533400" y="3708400"/>
            <a:ext cx="5397500" cy="2133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33400" y="3708400"/>
            <a:ext cx="50800" cy="21336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7400" y="39116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3 Models and settings</a:t>
            </a:r>
            <a:endParaRPr lang="en-US" sz="2000" dirty="0">
              <a:latin typeface="Calibri"/>
            </a:endParaRPr>
          </a:p>
        </p:txBody>
      </p:sp>
      <p:sp>
        <p:nvSpPr>
          <p:cNvPr id="18" name="TextBox 17"/>
          <p:cNvSpPr txBox="1"/>
          <p:nvPr/>
        </p:nvSpPr>
        <p:spPr>
          <a:xfrm>
            <a:off x="787400" y="4368800"/>
            <a:ext cx="4889500" cy="1346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Gemma-4-31b-it: temp 0; max 4,096 output tokens.</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Qwen3-8B (vLLM): temp 0, thinking off;</a:t>
            </a:r>
            <a:br>
              <a:rPr lang="en-US" sz="1800" b="0" dirty="0">
                <a:solidFill>
                  <a:srgbClr val="000000"/>
                </a:solidFill>
                <a:latin typeface="Calibri"/>
                <a:cs typeface="Calibri"/>
              </a:rPr>
            </a:br>
            <a:r>
              <a:rPr lang="en-US" sz="1800" b="0" dirty="0">
                <a:solidFill>
                  <a:srgbClr val="000000"/>
                </a:solidFill>
                <a:latin typeface="Calibri"/>
                <a:cs typeface="Calibri"/>
              </a:rPr>
              <a:t>max 3,310 baseline / 3,287 removal.</a:t>
            </a:r>
            <a:endParaRPr lang="en-US" sz="1800" dirty="0">
              <a:latin typeface="Calibri"/>
            </a:endParaRPr>
          </a:p>
        </p:txBody>
      </p:sp>
      <p:sp>
        <p:nvSpPr>
          <p:cNvPr id="19" name="Rounded Rectangle 18"/>
          <p:cNvSpPr/>
          <p:nvPr/>
        </p:nvSpPr>
        <p:spPr>
          <a:xfrm>
            <a:off x="6261100" y="3708400"/>
            <a:ext cx="5397500" cy="2133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61100" y="3708400"/>
            <a:ext cx="50800" cy="21336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15100" y="39116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4 Retrieval and limits</a:t>
            </a:r>
            <a:endParaRPr lang="en-US" sz="2000" dirty="0">
              <a:latin typeface="Calibri"/>
            </a:endParaRPr>
          </a:p>
        </p:txBody>
      </p:sp>
      <p:sp>
        <p:nvSpPr>
          <p:cNvPr id="22" name="TextBox 21"/>
          <p:cNvSpPr txBox="1"/>
          <p:nvPr/>
        </p:nvSpPr>
        <p:spPr>
          <a:xfrm>
            <a:off x="6515100" y="4368800"/>
            <a:ext cx="4889500" cy="1346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TF-IDF descriptions, cosine, top-3.</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20 baseline queries; 10 fixed removals.</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Each removal: fresh 29-API index.</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One attempt; no code execution.</a:t>
            </a:r>
            <a:endParaRPr lang="en-US" sz="1800" dirty="0">
              <a:latin typeface="Calibri"/>
            </a:endParaRPr>
          </a:p>
        </p:txBody>
      </p:sp>
    </p:spTree>
    <p:extLst>
      <p:ext uri="{BB962C8B-B14F-4D97-AF65-F5344CB8AC3E}">
        <p14:creationId xmlns:p14="http://schemas.microsoft.com/office/powerpoint/2010/main" val="3397845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0F766E"/>
                </a:solidFill>
                <a:latin typeface="Calibri"/>
                <a:cs typeface="Calibri"/>
              </a:rPr>
              <a:t>MY EXPERIMENT — RECORDED OBSERVATIONS</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My actual results—and two exact failures</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refusal/summary.json; qwen_baseline_trace.json req_005; qwen_generation.json req_019.</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09 / 12</a:t>
            </a:r>
            <a:endParaRPr lang="en-US" sz="1000" dirty="0">
              <a:latin typeface="Calibri"/>
            </a:endParaRPr>
          </a:p>
        </p:txBody>
      </p:sp>
      <p:sp>
        <p:nvSpPr>
          <p:cNvPr id="7" name="Rounded Rectangle 6"/>
          <p:cNvSpPr/>
          <p:nvPr/>
        </p:nvSpPr>
        <p:spPr>
          <a:xfrm>
            <a:off x="533400" y="1219200"/>
            <a:ext cx="11125200" cy="482600"/>
          </a:xfrm>
          <a:prstGeom prst="roundRect">
            <a:avLst>
              <a:gd name="adj" fmla="val 12000"/>
            </a:avLst>
          </a:prstGeom>
          <a:solidFill>
            <a:srgbClr val="E7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2000" y="1219200"/>
            <a:ext cx="10668000" cy="4826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Retrieval: top-1 50% (10/20) • top-3 85% (17/20)</a:t>
            </a:r>
            <a:endParaRPr lang="en-US" sz="2000" dirty="0">
              <a:latin typeface="Calibri"/>
            </a:endParaRPr>
          </a:p>
        </p:txBody>
      </p:sp>
      <p:sp>
        <p:nvSpPr>
          <p:cNvPr id="9" name="Rectangle 8"/>
          <p:cNvSpPr/>
          <p:nvPr/>
        </p:nvSpPr>
        <p:spPr>
          <a:xfrm>
            <a:off x="533400" y="1879600"/>
            <a:ext cx="2032000" cy="406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879600"/>
            <a:ext cx="1778000" cy="4064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600" b="1" dirty="0">
                <a:solidFill>
                  <a:srgbClr val="FFFFFF"/>
                </a:solidFill>
                <a:latin typeface="Calibri"/>
                <a:cs typeface="Calibri"/>
              </a:rPr>
              <a:t>Model</a:t>
            </a:r>
            <a:endParaRPr lang="en-US" sz="1600" dirty="0">
              <a:latin typeface="Calibri"/>
            </a:endParaRPr>
          </a:p>
        </p:txBody>
      </p:sp>
      <p:sp>
        <p:nvSpPr>
          <p:cNvPr id="11" name="Rectangle 10"/>
          <p:cNvSpPr/>
          <p:nvPr/>
        </p:nvSpPr>
        <p:spPr>
          <a:xfrm>
            <a:off x="2565400" y="1879600"/>
            <a:ext cx="2273300" cy="406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67000" y="18796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1" dirty="0">
                <a:solidFill>
                  <a:srgbClr val="FFFFFF"/>
                </a:solidFill>
                <a:latin typeface="Calibri"/>
                <a:cs typeface="Calibri"/>
              </a:rPr>
              <a:t>Correct calls</a:t>
            </a:r>
            <a:endParaRPr lang="en-US" sz="1600" dirty="0">
              <a:latin typeface="Calibri"/>
            </a:endParaRPr>
          </a:p>
        </p:txBody>
      </p:sp>
      <p:sp>
        <p:nvSpPr>
          <p:cNvPr id="13" name="Rectangle 12"/>
          <p:cNvSpPr/>
          <p:nvPr/>
        </p:nvSpPr>
        <p:spPr>
          <a:xfrm>
            <a:off x="4838700" y="1879600"/>
            <a:ext cx="2273300" cy="406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40300" y="18796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1" dirty="0">
                <a:solidFill>
                  <a:srgbClr val="FFFFFF"/>
                </a:solidFill>
                <a:latin typeface="Calibri"/>
                <a:cs typeface="Calibri"/>
              </a:rPr>
              <a:t>API errors</a:t>
            </a:r>
            <a:endParaRPr lang="en-US" sz="1600" dirty="0">
              <a:latin typeface="Calibri"/>
            </a:endParaRPr>
          </a:p>
        </p:txBody>
      </p:sp>
      <p:sp>
        <p:nvSpPr>
          <p:cNvPr id="15" name="Rectangle 14"/>
          <p:cNvSpPr/>
          <p:nvPr/>
        </p:nvSpPr>
        <p:spPr>
          <a:xfrm>
            <a:off x="7112000" y="1879600"/>
            <a:ext cx="2273300" cy="406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13600" y="18796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1" dirty="0">
                <a:solidFill>
                  <a:srgbClr val="FFFFFF"/>
                </a:solidFill>
                <a:latin typeface="Calibri"/>
                <a:cs typeface="Calibri"/>
              </a:rPr>
              <a:t>Refusals: 10 removals</a:t>
            </a:r>
            <a:endParaRPr lang="en-US" sz="1600" dirty="0">
              <a:latin typeface="Calibri"/>
            </a:endParaRPr>
          </a:p>
        </p:txBody>
      </p:sp>
      <p:sp>
        <p:nvSpPr>
          <p:cNvPr id="17" name="Rectangle 16"/>
          <p:cNvSpPr/>
          <p:nvPr/>
        </p:nvSpPr>
        <p:spPr>
          <a:xfrm>
            <a:off x="9385300" y="1879600"/>
            <a:ext cx="2273300" cy="406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86900" y="18796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1" dirty="0">
                <a:solidFill>
                  <a:srgbClr val="FFFFFF"/>
                </a:solidFill>
                <a:latin typeface="Calibri"/>
                <a:cs typeface="Calibri"/>
              </a:rPr>
              <a:t>API errors</a:t>
            </a:r>
            <a:endParaRPr lang="en-US" sz="1600" dirty="0">
              <a:latin typeface="Calibri"/>
            </a:endParaRPr>
          </a:p>
        </p:txBody>
      </p:sp>
      <p:sp>
        <p:nvSpPr>
          <p:cNvPr id="19" name="Rectangle 18"/>
          <p:cNvSpPr/>
          <p:nvPr/>
        </p:nvSpPr>
        <p:spPr>
          <a:xfrm>
            <a:off x="533400" y="2311400"/>
            <a:ext cx="20320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2311400"/>
            <a:ext cx="2133600" cy="4064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600" b="1" dirty="0">
                <a:solidFill>
                  <a:srgbClr val="000000"/>
                </a:solidFill>
                <a:latin typeface="Calibri"/>
                <a:cs typeface="Calibri"/>
              </a:rPr>
              <a:t>Gemma (Google Studio)</a:t>
            </a:r>
            <a:endParaRPr lang="en-US" sz="1600" dirty="0">
              <a:latin typeface="Calibri"/>
            </a:endParaRPr>
          </a:p>
        </p:txBody>
      </p:sp>
      <p:sp>
        <p:nvSpPr>
          <p:cNvPr id="21" name="Rectangle 20"/>
          <p:cNvSpPr/>
          <p:nvPr/>
        </p:nvSpPr>
        <p:spPr>
          <a:xfrm>
            <a:off x="2921000" y="2311400"/>
            <a:ext cx="19177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971800" y="2311400"/>
            <a:ext cx="16129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0" dirty="0">
                <a:solidFill>
                  <a:srgbClr val="000000"/>
                </a:solidFill>
                <a:latin typeface="Calibri"/>
                <a:cs typeface="Calibri"/>
              </a:rPr>
              <a:t>15% (3/20)</a:t>
            </a:r>
            <a:endParaRPr lang="en-US" sz="1600" dirty="0">
              <a:latin typeface="Calibri"/>
            </a:endParaRPr>
          </a:p>
        </p:txBody>
      </p:sp>
      <p:sp>
        <p:nvSpPr>
          <p:cNvPr id="23" name="Rectangle 22"/>
          <p:cNvSpPr/>
          <p:nvPr/>
        </p:nvSpPr>
        <p:spPr>
          <a:xfrm>
            <a:off x="4838700" y="2311400"/>
            <a:ext cx="22733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40300" y="23114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0" dirty="0">
                <a:solidFill>
                  <a:srgbClr val="000000"/>
                </a:solidFill>
                <a:latin typeface="Calibri"/>
                <a:cs typeface="Calibri"/>
              </a:rPr>
              <a:t>16/20</a:t>
            </a:r>
            <a:endParaRPr lang="en-US" sz="1600" dirty="0">
              <a:latin typeface="Calibri"/>
            </a:endParaRPr>
          </a:p>
        </p:txBody>
      </p:sp>
      <p:sp>
        <p:nvSpPr>
          <p:cNvPr id="25" name="Rectangle 24"/>
          <p:cNvSpPr/>
          <p:nvPr/>
        </p:nvSpPr>
        <p:spPr>
          <a:xfrm>
            <a:off x="7112000" y="2311400"/>
            <a:ext cx="22733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13600" y="23114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0" dirty="0">
                <a:solidFill>
                  <a:srgbClr val="000000"/>
                </a:solidFill>
                <a:latin typeface="Calibri"/>
                <a:cs typeface="Calibri"/>
              </a:rPr>
              <a:t>10% (1/10)</a:t>
            </a:r>
            <a:endParaRPr lang="en-US" sz="1600" dirty="0">
              <a:latin typeface="Calibri"/>
            </a:endParaRPr>
          </a:p>
        </p:txBody>
      </p:sp>
      <p:sp>
        <p:nvSpPr>
          <p:cNvPr id="27" name="Rectangle 26"/>
          <p:cNvSpPr/>
          <p:nvPr/>
        </p:nvSpPr>
        <p:spPr>
          <a:xfrm>
            <a:off x="9385300" y="2311400"/>
            <a:ext cx="22733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486900" y="23114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0" dirty="0">
                <a:solidFill>
                  <a:srgbClr val="000000"/>
                </a:solidFill>
                <a:latin typeface="Calibri"/>
                <a:cs typeface="Calibri"/>
              </a:rPr>
              <a:t>9/10</a:t>
            </a:r>
            <a:endParaRPr lang="en-US" sz="1600" dirty="0">
              <a:latin typeface="Calibri"/>
            </a:endParaRPr>
          </a:p>
        </p:txBody>
      </p:sp>
      <p:sp>
        <p:nvSpPr>
          <p:cNvPr id="29" name="Rectangle 28"/>
          <p:cNvSpPr/>
          <p:nvPr/>
        </p:nvSpPr>
        <p:spPr>
          <a:xfrm>
            <a:off x="533400" y="2743200"/>
            <a:ext cx="20320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2743200"/>
            <a:ext cx="1778000" cy="4064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600" b="1" dirty="0">
                <a:solidFill>
                  <a:srgbClr val="000000"/>
                </a:solidFill>
                <a:latin typeface="Calibri"/>
                <a:cs typeface="Calibri"/>
              </a:rPr>
              <a:t>Qwen (Self-host)</a:t>
            </a:r>
            <a:endParaRPr lang="en-US" sz="1600" dirty="0">
              <a:latin typeface="Calibri"/>
            </a:endParaRPr>
          </a:p>
        </p:txBody>
      </p:sp>
      <p:sp>
        <p:nvSpPr>
          <p:cNvPr id="31" name="Rectangle 30"/>
          <p:cNvSpPr/>
          <p:nvPr/>
        </p:nvSpPr>
        <p:spPr>
          <a:xfrm>
            <a:off x="2565400" y="2743200"/>
            <a:ext cx="22733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67000" y="27432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0" dirty="0">
                <a:solidFill>
                  <a:srgbClr val="000000"/>
                </a:solidFill>
                <a:latin typeface="Calibri"/>
                <a:cs typeface="Calibri"/>
              </a:rPr>
              <a:t>20% (4/20)</a:t>
            </a:r>
            <a:endParaRPr lang="en-US" sz="1600" dirty="0">
              <a:latin typeface="Calibri"/>
            </a:endParaRPr>
          </a:p>
        </p:txBody>
      </p:sp>
      <p:sp>
        <p:nvSpPr>
          <p:cNvPr id="33" name="Rectangle 32"/>
          <p:cNvSpPr/>
          <p:nvPr/>
        </p:nvSpPr>
        <p:spPr>
          <a:xfrm>
            <a:off x="4838700" y="2743200"/>
            <a:ext cx="22733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40300" y="27432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0" dirty="0">
                <a:solidFill>
                  <a:srgbClr val="000000"/>
                </a:solidFill>
                <a:latin typeface="Calibri"/>
                <a:cs typeface="Calibri"/>
              </a:rPr>
              <a:t>0/20</a:t>
            </a:r>
            <a:endParaRPr lang="en-US" sz="1600" dirty="0">
              <a:latin typeface="Calibri"/>
            </a:endParaRPr>
          </a:p>
        </p:txBody>
      </p:sp>
      <p:sp>
        <p:nvSpPr>
          <p:cNvPr id="35" name="Rectangle 34"/>
          <p:cNvSpPr/>
          <p:nvPr/>
        </p:nvSpPr>
        <p:spPr>
          <a:xfrm>
            <a:off x="7112000" y="2743200"/>
            <a:ext cx="22733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213600" y="27432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0" dirty="0">
                <a:solidFill>
                  <a:srgbClr val="000000"/>
                </a:solidFill>
                <a:latin typeface="Calibri"/>
                <a:cs typeface="Calibri"/>
              </a:rPr>
              <a:t>30% (3/10)</a:t>
            </a:r>
            <a:endParaRPr lang="en-US" sz="1600" dirty="0">
              <a:latin typeface="Calibri"/>
            </a:endParaRPr>
          </a:p>
        </p:txBody>
      </p:sp>
      <p:sp>
        <p:nvSpPr>
          <p:cNvPr id="37" name="Rectangle 36"/>
          <p:cNvSpPr/>
          <p:nvPr/>
        </p:nvSpPr>
        <p:spPr>
          <a:xfrm>
            <a:off x="9385300" y="2743200"/>
            <a:ext cx="22733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86900" y="2743200"/>
            <a:ext cx="1917700" cy="4064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lang="en-US" sz="1600" b="0" dirty="0">
                <a:solidFill>
                  <a:srgbClr val="000000"/>
                </a:solidFill>
                <a:latin typeface="Calibri"/>
                <a:cs typeface="Calibri"/>
              </a:rPr>
              <a:t>0/10</a:t>
            </a:r>
            <a:endParaRPr lang="en-US" sz="1600" dirty="0">
              <a:latin typeface="Calibri"/>
            </a:endParaRPr>
          </a:p>
        </p:txBody>
      </p:sp>
      <p:sp>
        <p:nvSpPr>
          <p:cNvPr id="39" name="TextBox 38"/>
          <p:cNvSpPr txBox="1"/>
          <p:nvPr/>
        </p:nvSpPr>
        <p:spPr>
          <a:xfrm>
            <a:off x="533400" y="3276600"/>
            <a:ext cx="11125200" cy="254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600" b="0" dirty="0">
                <a:solidFill>
                  <a:srgbClr val="000000"/>
                </a:solidFill>
                <a:latin typeface="Calibri"/>
                <a:cs typeface="Calibri"/>
              </a:rPr>
              <a:t>Among successful requests — calls: Gemma 75%, Qwen 20%; refusals: 100% (1/1), 30% (3/10).</a:t>
            </a:r>
            <a:endParaRPr lang="en-US" sz="1600" dirty="0">
              <a:latin typeface="Calibri"/>
            </a:endParaRPr>
          </a:p>
        </p:txBody>
      </p:sp>
      <p:sp>
        <p:nvSpPr>
          <p:cNvPr id="40" name="TextBox 39"/>
          <p:cNvSpPr txBox="1"/>
          <p:nvPr/>
        </p:nvSpPr>
        <p:spPr>
          <a:xfrm>
            <a:off x="533400" y="3556000"/>
            <a:ext cx="11125200" cy="254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600" b="0" dirty="0">
                <a:solidFill>
                  <a:srgbClr val="B45309"/>
                </a:solidFill>
                <a:latin typeface="Calibri"/>
                <a:cs typeface="Calibri"/>
              </a:rPr>
              <a:t>API errors are never refusals. Gemma’s one successful removal response is too little to compare.</a:t>
            </a:r>
            <a:endParaRPr lang="en-US" sz="1600" dirty="0">
              <a:latin typeface="Calibri"/>
            </a:endParaRPr>
          </a:p>
        </p:txBody>
      </p:sp>
      <p:sp>
        <p:nvSpPr>
          <p:cNvPr id="41" name="TextBox 40"/>
          <p:cNvSpPr txBox="1"/>
          <p:nvPr/>
        </p:nvSpPr>
        <p:spPr>
          <a:xfrm>
            <a:off x="533400" y="3962400"/>
            <a:ext cx="111252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Two exact invented / unsupported SDK calls (Qwen)</a:t>
            </a:r>
            <a:endParaRPr lang="en-US" sz="2000" dirty="0">
              <a:latin typeface="Calibri"/>
            </a:endParaRPr>
          </a:p>
        </p:txBody>
      </p:sp>
      <p:sp>
        <p:nvSpPr>
          <p:cNvPr id="42" name="TextBox 41"/>
          <p:cNvSpPr txBox="1"/>
          <p:nvPr/>
        </p:nvSpPr>
        <p:spPr>
          <a:xfrm>
            <a:off x="533400" y="4394200"/>
            <a:ext cx="10795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dirty="0">
                <a:solidFill>
                  <a:srgbClr val="000000"/>
                </a:solidFill>
                <a:latin typeface="Calibri"/>
                <a:cs typeface="Calibri"/>
              </a:rPr>
              <a:t>BASELINE · req_005</a:t>
            </a:r>
            <a:endParaRPr lang="en-US" sz="1400" dirty="0">
              <a:latin typeface="Calibri"/>
            </a:endParaRPr>
          </a:p>
        </p:txBody>
      </p:sp>
      <p:sp>
        <p:nvSpPr>
          <p:cNvPr id="43" name="Rounded Rectangle 42"/>
          <p:cNvSpPr/>
          <p:nvPr/>
        </p:nvSpPr>
        <p:spPr>
          <a:xfrm>
            <a:off x="533400" y="4648200"/>
            <a:ext cx="11125200" cy="431800"/>
          </a:xfrm>
          <a:prstGeom prst="roundRect">
            <a:avLst>
              <a:gd name="adj" fmla="val 12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11200" y="4648200"/>
            <a:ext cx="10820400" cy="431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600" b="0" dirty="0">
                <a:solidFill>
                  <a:srgbClr val="000000"/>
                </a:solidFill>
                <a:latin typeface="Calibri"/>
                <a:cs typeface="Calibri"/>
              </a:rPr>
              <a:t>list_resource_v1_device_class(resource_version="0")</a:t>
            </a:r>
            <a:endParaRPr lang="en-US" sz="1600" dirty="0">
              <a:latin typeface="Calibri"/>
            </a:endParaRPr>
          </a:p>
        </p:txBody>
      </p:sp>
      <p:sp>
        <p:nvSpPr>
          <p:cNvPr id="45" name="TextBox 44"/>
          <p:cNvSpPr txBox="1"/>
          <p:nvPr/>
        </p:nvSpPr>
        <p:spPr>
          <a:xfrm>
            <a:off x="533400" y="5207000"/>
            <a:ext cx="10795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dirty="0">
                <a:solidFill>
                  <a:srgbClr val="000000"/>
                </a:solidFill>
                <a:latin typeface="Calibri"/>
                <a:cs typeface="Calibri"/>
              </a:rPr>
              <a:t>REMOVAL TEST · req_019</a:t>
            </a:r>
            <a:endParaRPr lang="en-US" sz="1400" dirty="0">
              <a:latin typeface="Calibri"/>
            </a:endParaRPr>
          </a:p>
        </p:txBody>
      </p:sp>
      <p:sp>
        <p:nvSpPr>
          <p:cNvPr id="46" name="Rounded Rectangle 45"/>
          <p:cNvSpPr/>
          <p:nvPr/>
        </p:nvSpPr>
        <p:spPr>
          <a:xfrm>
            <a:off x="533400" y="5461000"/>
            <a:ext cx="11125200" cy="431800"/>
          </a:xfrm>
          <a:prstGeom prst="roundRect">
            <a:avLst>
              <a:gd name="adj" fmla="val 12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1200" y="5461000"/>
            <a:ext cx="10820400" cy="431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600" b="0" dirty="0">
                <a:solidFill>
                  <a:srgbClr val="000000"/>
                </a:solidFill>
                <a:latin typeface="Calibri"/>
                <a:cs typeface="Calibri"/>
              </a:rPr>
              <a:t>scheduling_v1.read_namespaced_priority_class(name="system-cluster-critical", namespace="")</a:t>
            </a:r>
            <a:endParaRPr lang="en-US" sz="1600" dirty="0">
              <a:latin typeface="Calibri"/>
            </a:endParaRPr>
          </a:p>
        </p:txBody>
      </p:sp>
    </p:spTree>
    <p:extLst>
      <p:ext uri="{BB962C8B-B14F-4D97-AF65-F5344CB8AC3E}">
        <p14:creationId xmlns:p14="http://schemas.microsoft.com/office/powerpoint/2010/main" val="806063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0F766E"/>
                </a:solidFill>
                <a:latin typeface="Calibri"/>
                <a:cs typeface="Calibri"/>
              </a:rPr>
              <a:t>MY LIMITATIONS</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What I reproduced—and what I did not</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Paper pp. 4–8, Table 2; notebook; saved protocols and refusal plan.</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10 / 12</a:t>
            </a:r>
            <a:endParaRPr lang="en-US" sz="1000" dirty="0">
              <a:latin typeface="Calibri"/>
            </a:endParaRPr>
          </a:p>
        </p:txBody>
      </p:sp>
      <p:sp>
        <p:nvSpPr>
          <p:cNvPr id="7" name="Rectangle 6"/>
          <p:cNvSpPr/>
          <p:nvPr/>
        </p:nvSpPr>
        <p:spPr>
          <a:xfrm>
            <a:off x="533400" y="1371600"/>
            <a:ext cx="1625600" cy="55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71600"/>
            <a:ext cx="13716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FFFFFF"/>
                </a:solidFill>
                <a:latin typeface="Calibri"/>
                <a:cs typeface="Calibri"/>
              </a:rPr>
              <a:t>Dimension</a:t>
            </a:r>
            <a:endParaRPr lang="en-US" sz="1800" dirty="0">
              <a:latin typeface="Calibri"/>
            </a:endParaRPr>
          </a:p>
        </p:txBody>
      </p:sp>
      <p:sp>
        <p:nvSpPr>
          <p:cNvPr id="9" name="Rectangle 8"/>
          <p:cNvSpPr/>
          <p:nvPr/>
        </p:nvSpPr>
        <p:spPr>
          <a:xfrm>
            <a:off x="2159000" y="1371600"/>
            <a:ext cx="4343400" cy="55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11400" y="1371600"/>
            <a:ext cx="40894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FFFFFF"/>
                </a:solidFill>
                <a:latin typeface="Calibri"/>
                <a:cs typeface="Calibri"/>
              </a:rPr>
              <a:t>Paper</a:t>
            </a:r>
            <a:endParaRPr lang="en-US" sz="1800" dirty="0">
              <a:latin typeface="Calibri"/>
            </a:endParaRPr>
          </a:p>
        </p:txBody>
      </p:sp>
      <p:sp>
        <p:nvSpPr>
          <p:cNvPr id="11" name="Rectangle 10"/>
          <p:cNvSpPr/>
          <p:nvPr/>
        </p:nvSpPr>
        <p:spPr>
          <a:xfrm>
            <a:off x="6502400" y="1371600"/>
            <a:ext cx="5156200" cy="55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54800" y="1371600"/>
            <a:ext cx="49022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FFFFFF"/>
                </a:solidFill>
                <a:latin typeface="Calibri"/>
                <a:cs typeface="Calibri"/>
              </a:rPr>
              <a:t>My pilot</a:t>
            </a:r>
            <a:endParaRPr lang="en-US" sz="1800" dirty="0">
              <a:latin typeface="Calibri"/>
            </a:endParaRPr>
          </a:p>
        </p:txBody>
      </p:sp>
      <p:sp>
        <p:nvSpPr>
          <p:cNvPr id="13" name="Rectangle 12"/>
          <p:cNvSpPr/>
          <p:nvPr/>
        </p:nvSpPr>
        <p:spPr>
          <a:xfrm>
            <a:off x="533400" y="1955800"/>
            <a:ext cx="16256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1955800"/>
            <a:ext cx="13716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000000"/>
                </a:solidFill>
                <a:latin typeface="Calibri"/>
                <a:cs typeface="Calibri"/>
              </a:rPr>
              <a:t>Training</a:t>
            </a:r>
            <a:endParaRPr lang="en-US" sz="1800" dirty="0">
              <a:latin typeface="Calibri"/>
            </a:endParaRPr>
          </a:p>
        </p:txBody>
      </p:sp>
      <p:sp>
        <p:nvSpPr>
          <p:cNvPr id="15" name="Rectangle 14"/>
          <p:cNvSpPr/>
          <p:nvPr/>
        </p:nvSpPr>
        <p:spPr>
          <a:xfrm>
            <a:off x="2159000" y="1955800"/>
            <a:ext cx="43434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11400" y="1955800"/>
            <a:ext cx="40894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LLaMA-7B fine-tuning / RAT</a:t>
            </a:r>
            <a:endParaRPr lang="en-US" sz="1800" dirty="0">
              <a:latin typeface="Calibri"/>
            </a:endParaRPr>
          </a:p>
        </p:txBody>
      </p:sp>
      <p:sp>
        <p:nvSpPr>
          <p:cNvPr id="17" name="Rectangle 16"/>
          <p:cNvSpPr/>
          <p:nvPr/>
        </p:nvSpPr>
        <p:spPr>
          <a:xfrm>
            <a:off x="6502400" y="1955800"/>
            <a:ext cx="5156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54800" y="1955800"/>
            <a:ext cx="49022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None; prompted Gemma and Qwen</a:t>
            </a:r>
            <a:endParaRPr lang="en-US" sz="1800" dirty="0">
              <a:latin typeface="Calibri"/>
            </a:endParaRPr>
          </a:p>
        </p:txBody>
      </p:sp>
      <p:sp>
        <p:nvSpPr>
          <p:cNvPr id="19" name="Rectangle 18"/>
          <p:cNvSpPr/>
          <p:nvPr/>
        </p:nvSpPr>
        <p:spPr>
          <a:xfrm>
            <a:off x="533400" y="2540000"/>
            <a:ext cx="16256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2540000"/>
            <a:ext cx="13716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000000"/>
                </a:solidFill>
                <a:latin typeface="Calibri"/>
                <a:cs typeface="Calibri"/>
              </a:rPr>
              <a:t>Corpus</a:t>
            </a:r>
            <a:endParaRPr lang="en-US" sz="1800" dirty="0">
              <a:latin typeface="Calibri"/>
            </a:endParaRPr>
          </a:p>
        </p:txBody>
      </p:sp>
      <p:sp>
        <p:nvSpPr>
          <p:cNvPr id="21" name="Rectangle 20"/>
          <p:cNvSpPr/>
          <p:nvPr/>
        </p:nvSpPr>
        <p:spPr>
          <a:xfrm>
            <a:off x="2159000" y="2540000"/>
            <a:ext cx="43434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311400" y="2540000"/>
            <a:ext cx="40894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1,645 model-hub APIs reported</a:t>
            </a:r>
            <a:endParaRPr lang="en-US" sz="1800" dirty="0">
              <a:latin typeface="Calibri"/>
            </a:endParaRPr>
          </a:p>
        </p:txBody>
      </p:sp>
      <p:sp>
        <p:nvSpPr>
          <p:cNvPr id="23" name="Rectangle 22"/>
          <p:cNvSpPr/>
          <p:nvPr/>
        </p:nvSpPr>
        <p:spPr>
          <a:xfrm>
            <a:off x="6502400" y="2540000"/>
            <a:ext cx="5156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54800" y="2540000"/>
            <a:ext cx="49022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30 selected Kubernetes operations</a:t>
            </a:r>
            <a:endParaRPr lang="en-US" sz="1800" dirty="0">
              <a:latin typeface="Calibri"/>
            </a:endParaRPr>
          </a:p>
        </p:txBody>
      </p:sp>
      <p:sp>
        <p:nvSpPr>
          <p:cNvPr id="25" name="Rectangle 24"/>
          <p:cNvSpPr/>
          <p:nvPr/>
        </p:nvSpPr>
        <p:spPr>
          <a:xfrm>
            <a:off x="533400" y="3124200"/>
            <a:ext cx="16256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3124200"/>
            <a:ext cx="13716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000000"/>
                </a:solidFill>
                <a:latin typeface="Calibri"/>
                <a:cs typeface="Calibri"/>
              </a:rPr>
              <a:t>Retrieval</a:t>
            </a:r>
            <a:endParaRPr lang="en-US" sz="1800" dirty="0">
              <a:latin typeface="Calibri"/>
            </a:endParaRPr>
          </a:p>
        </p:txBody>
      </p:sp>
      <p:sp>
        <p:nvSpPr>
          <p:cNvPr id="27" name="Rectangle 26"/>
          <p:cNvSpPr/>
          <p:nvPr/>
        </p:nvSpPr>
        <p:spPr>
          <a:xfrm>
            <a:off x="2159000" y="3124200"/>
            <a:ext cx="43434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311400" y="3124200"/>
            <a:ext cx="40894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BM25 / GPT-Index, top-1; oracle</a:t>
            </a:r>
            <a:endParaRPr lang="en-US" sz="1800" dirty="0">
              <a:latin typeface="Calibri"/>
            </a:endParaRPr>
          </a:p>
        </p:txBody>
      </p:sp>
      <p:sp>
        <p:nvSpPr>
          <p:cNvPr id="29" name="Rectangle 28"/>
          <p:cNvSpPr/>
          <p:nvPr/>
        </p:nvSpPr>
        <p:spPr>
          <a:xfrm>
            <a:off x="6502400" y="3124200"/>
            <a:ext cx="5156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54800" y="3124200"/>
            <a:ext cx="49022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TF-IDF, top-3; ten API removals</a:t>
            </a:r>
            <a:endParaRPr lang="en-US" sz="1800" dirty="0">
              <a:latin typeface="Calibri"/>
            </a:endParaRPr>
          </a:p>
        </p:txBody>
      </p:sp>
      <p:sp>
        <p:nvSpPr>
          <p:cNvPr id="31" name="Rectangle 30"/>
          <p:cNvSpPr/>
          <p:nvPr/>
        </p:nvSpPr>
        <p:spPr>
          <a:xfrm>
            <a:off x="533400" y="3708400"/>
            <a:ext cx="16256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3708400"/>
            <a:ext cx="13716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1" dirty="0">
                <a:solidFill>
                  <a:srgbClr val="000000"/>
                </a:solidFill>
                <a:latin typeface="Calibri"/>
                <a:cs typeface="Calibri"/>
              </a:rPr>
              <a:t>Scoring</a:t>
            </a:r>
            <a:endParaRPr lang="en-US" sz="1800" dirty="0">
              <a:latin typeface="Calibri"/>
            </a:endParaRPr>
          </a:p>
        </p:txBody>
      </p:sp>
      <p:sp>
        <p:nvSpPr>
          <p:cNvPr id="33" name="Rectangle 32"/>
          <p:cNvSpPr/>
          <p:nvPr/>
        </p:nvSpPr>
        <p:spPr>
          <a:xfrm>
            <a:off x="2159000" y="3708400"/>
            <a:ext cx="43434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311400" y="3708400"/>
            <a:ext cx="40894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AST identity; selected arguments</a:t>
            </a:r>
            <a:endParaRPr lang="en-US" sz="1800" dirty="0">
              <a:latin typeface="Calibri"/>
            </a:endParaRPr>
          </a:p>
        </p:txBody>
      </p:sp>
      <p:sp>
        <p:nvSpPr>
          <p:cNvPr id="35" name="Rectangle 34"/>
          <p:cNvSpPr/>
          <p:nvPr/>
        </p:nvSpPr>
        <p:spPr>
          <a:xfrm>
            <a:off x="6502400" y="3708400"/>
            <a:ext cx="5156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54800" y="3708400"/>
            <a:ext cx="4902200" cy="5588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Literal SDK call + verified arguments</a:t>
            </a:r>
            <a:endParaRPr lang="en-US" sz="1800" dirty="0">
              <a:latin typeface="Calibri"/>
            </a:endParaRPr>
          </a:p>
        </p:txBody>
      </p:sp>
      <p:sp>
        <p:nvSpPr>
          <p:cNvPr id="37" name="TextBox 36"/>
          <p:cNvSpPr txBox="1"/>
          <p:nvPr/>
        </p:nvSpPr>
        <p:spPr>
          <a:xfrm>
            <a:off x="533400" y="4521200"/>
            <a:ext cx="11125200" cy="635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000000"/>
                </a:solidFill>
                <a:latin typeface="Calibri"/>
                <a:cs typeface="Calibri"/>
              </a:rPr>
              <a:t>Limits:</a:t>
            </a:r>
            <a:r>
              <a:rPr lang="en-US" sz="2000" b="0" dirty="0">
                <a:solidFill>
                  <a:srgbClr val="000000"/>
                </a:solidFill>
                <a:latin typeface="Calibri"/>
                <a:cs typeface="Calibri"/>
              </a:rPr>
              <a:t> small selected sample; high Gemma API-error rate; no fine-tuning, oracle, or no-retrieval control.</a:t>
            </a:r>
            <a:endParaRPr lang="en-US" sz="2000" dirty="0">
              <a:latin typeface="Calibri"/>
            </a:endParaRPr>
          </a:p>
        </p:txBody>
      </p:sp>
      <p:sp>
        <p:nvSpPr>
          <p:cNvPr id="38" name="TextBox 37"/>
          <p:cNvSpPr txBox="1"/>
          <p:nvPr/>
        </p:nvSpPr>
        <p:spPr>
          <a:xfrm>
            <a:off x="533400" y="5232400"/>
            <a:ext cx="11125200" cy="635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0F766E"/>
                </a:solidFill>
                <a:latin typeface="Calibri"/>
                <a:cs typeface="Calibri"/>
              </a:rPr>
              <a:t>AST checks and prior dry-runs do not prove live execution, device allocation, or workload completion.</a:t>
            </a:r>
            <a:endParaRPr lang="en-US" sz="2000" dirty="0">
              <a:latin typeface="Calibri"/>
            </a:endParaRPr>
          </a:p>
        </p:txBody>
      </p:sp>
    </p:spTree>
    <p:extLst>
      <p:ext uri="{BB962C8B-B14F-4D97-AF65-F5344CB8AC3E}">
        <p14:creationId xmlns:p14="http://schemas.microsoft.com/office/powerpoint/2010/main" val="3911635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D97706"/>
                </a:solidFill>
                <a:latin typeface="Calibri"/>
                <a:cs typeface="Calibri"/>
              </a:rPr>
              <a:t>MY QUESTIONS</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Three questions I would ask the authors</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Motivated by paper pp. 5, 7–9; Table 2, p. 8; execution discussion, p. 8.</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11 / 12</a:t>
            </a:r>
            <a:endParaRPr lang="en-US" sz="1000" dirty="0">
              <a:latin typeface="Calibri"/>
            </a:endParaRPr>
          </a:p>
        </p:txBody>
      </p:sp>
      <p:sp>
        <p:nvSpPr>
          <p:cNvPr id="7" name="Rounded Rectangle 6"/>
          <p:cNvSpPr/>
          <p:nvPr/>
        </p:nvSpPr>
        <p:spPr>
          <a:xfrm>
            <a:off x="533400" y="1473200"/>
            <a:ext cx="11125200" cy="1320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3400" y="1549400"/>
            <a:ext cx="838200" cy="584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600" b="1" dirty="0">
                <a:solidFill>
                  <a:srgbClr val="D97706"/>
                </a:solidFill>
                <a:latin typeface="Calibri"/>
                <a:cs typeface="Calibri"/>
              </a:rPr>
              <a:t>01</a:t>
            </a:r>
            <a:endParaRPr lang="en-US" sz="3600" dirty="0">
              <a:latin typeface="Calibri"/>
            </a:endParaRPr>
          </a:p>
        </p:txBody>
      </p:sp>
      <p:sp>
        <p:nvSpPr>
          <p:cNvPr id="9" name="TextBox 8"/>
          <p:cNvSpPr txBox="1"/>
          <p:nvPr/>
        </p:nvSpPr>
        <p:spPr>
          <a:xfrm>
            <a:off x="1473200" y="1600200"/>
            <a:ext cx="10185400" cy="406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400" b="1" dirty="0">
                <a:solidFill>
                  <a:srgbClr val="000000"/>
                </a:solidFill>
                <a:latin typeface="Calibri"/>
                <a:cs typeface="Calibri"/>
              </a:rPr>
              <a:t>When should the model refuse?</a:t>
            </a:r>
            <a:endParaRPr lang="en-US" sz="2400" dirty="0">
              <a:latin typeface="Calibri"/>
            </a:endParaRPr>
          </a:p>
        </p:txBody>
      </p:sp>
      <p:sp>
        <p:nvSpPr>
          <p:cNvPr id="10" name="TextBox 9"/>
          <p:cNvSpPr txBox="1"/>
          <p:nvPr/>
        </p:nvSpPr>
        <p:spPr>
          <a:xfrm>
            <a:off x="1473200" y="2057400"/>
            <a:ext cx="10185400" cy="685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How should it distinguish a retrieval miss from an API that is genuinely unavailable?</a:t>
            </a:r>
            <a:endParaRPr lang="en-US" sz="2000" dirty="0">
              <a:latin typeface="Calibri"/>
            </a:endParaRPr>
          </a:p>
        </p:txBody>
      </p:sp>
      <p:sp>
        <p:nvSpPr>
          <p:cNvPr id="11" name="Rounded Rectangle 10"/>
          <p:cNvSpPr/>
          <p:nvPr/>
        </p:nvSpPr>
        <p:spPr>
          <a:xfrm>
            <a:off x="533400" y="2997200"/>
            <a:ext cx="11125200" cy="1320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3400" y="3073400"/>
            <a:ext cx="838200" cy="584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600" b="1" dirty="0">
                <a:solidFill>
                  <a:srgbClr val="D97706"/>
                </a:solidFill>
                <a:latin typeface="Calibri"/>
                <a:cs typeface="Calibri"/>
              </a:rPr>
              <a:t>02</a:t>
            </a:r>
            <a:endParaRPr lang="en-US" sz="3600" dirty="0">
              <a:latin typeface="Calibri"/>
            </a:endParaRPr>
          </a:p>
        </p:txBody>
      </p:sp>
      <p:sp>
        <p:nvSpPr>
          <p:cNvPr id="13" name="TextBox 12"/>
          <p:cNvSpPr txBox="1"/>
          <p:nvPr/>
        </p:nvSpPr>
        <p:spPr>
          <a:xfrm>
            <a:off x="1473200" y="3124200"/>
            <a:ext cx="10185400" cy="406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400" b="1" dirty="0">
                <a:solidFill>
                  <a:srgbClr val="000000"/>
                </a:solidFill>
                <a:latin typeface="Calibri"/>
                <a:cs typeface="Calibri"/>
              </a:rPr>
              <a:t>How far does the benefit generalize?</a:t>
            </a:r>
            <a:endParaRPr lang="en-US" sz="2400" dirty="0">
              <a:latin typeface="Calibri"/>
            </a:endParaRPr>
          </a:p>
        </p:txBody>
      </p:sp>
      <p:sp>
        <p:nvSpPr>
          <p:cNvPr id="14" name="TextBox 13"/>
          <p:cNvSpPr txBox="1"/>
          <p:nvPr/>
        </p:nvSpPr>
        <p:spPr>
          <a:xfrm>
            <a:off x="1473200" y="3581400"/>
            <a:ext cx="10185400" cy="685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Does the gain persist on API-disjoint and time-disjoint tests with retrieval quality controlled?</a:t>
            </a:r>
            <a:endParaRPr lang="en-US" sz="2000" dirty="0">
              <a:latin typeface="Calibri"/>
            </a:endParaRPr>
          </a:p>
        </p:txBody>
      </p:sp>
      <p:sp>
        <p:nvSpPr>
          <p:cNvPr id="15" name="Rounded Rectangle 14"/>
          <p:cNvSpPr/>
          <p:nvPr/>
        </p:nvSpPr>
        <p:spPr>
          <a:xfrm>
            <a:off x="533400" y="4521200"/>
            <a:ext cx="11125200" cy="1320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3400" y="4597400"/>
            <a:ext cx="838200" cy="584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600" b="1" dirty="0">
                <a:solidFill>
                  <a:srgbClr val="D97706"/>
                </a:solidFill>
                <a:latin typeface="Calibri"/>
                <a:cs typeface="Calibri"/>
              </a:rPr>
              <a:t>03</a:t>
            </a:r>
            <a:endParaRPr lang="en-US" sz="3600" dirty="0">
              <a:latin typeface="Calibri"/>
            </a:endParaRPr>
          </a:p>
        </p:txBody>
      </p:sp>
      <p:sp>
        <p:nvSpPr>
          <p:cNvPr id="17" name="TextBox 16"/>
          <p:cNvSpPr txBox="1"/>
          <p:nvPr/>
        </p:nvSpPr>
        <p:spPr>
          <a:xfrm>
            <a:off x="1473200" y="4648200"/>
            <a:ext cx="10185400" cy="4064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400" b="1" dirty="0">
                <a:solidFill>
                  <a:srgbClr val="000000"/>
                </a:solidFill>
                <a:latin typeface="Calibri"/>
                <a:cs typeface="Calibri"/>
              </a:rPr>
              <a:t>What must be checked beyond the AST?</a:t>
            </a:r>
            <a:endParaRPr lang="en-US" sz="2400" dirty="0">
              <a:latin typeface="Calibri"/>
            </a:endParaRPr>
          </a:p>
        </p:txBody>
      </p:sp>
      <p:sp>
        <p:nvSpPr>
          <p:cNvPr id="18" name="TextBox 17"/>
          <p:cNvSpPr txBox="1"/>
          <p:nvPr/>
        </p:nvSpPr>
        <p:spPr>
          <a:xfrm>
            <a:off x="1473200" y="5105400"/>
            <a:ext cx="10185400" cy="685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0" dirty="0">
                <a:solidFill>
                  <a:srgbClr val="000000"/>
                </a:solidFill>
                <a:latin typeface="Calibri"/>
                <a:cs typeface="Calibri"/>
              </a:rPr>
              <a:t>What extra evidence is needed before a generated call can safely change system state?</a:t>
            </a:r>
            <a:endParaRPr lang="en-US" sz="2000" dirty="0">
              <a:latin typeface="Calibri"/>
            </a:endParaRPr>
          </a:p>
        </p:txBody>
      </p:sp>
    </p:spTree>
    <p:extLst>
      <p:ext uri="{BB962C8B-B14F-4D97-AF65-F5344CB8AC3E}">
        <p14:creationId xmlns:p14="http://schemas.microsoft.com/office/powerpoint/2010/main" val="2597162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92100"/>
            <a:ext cx="8636000" cy="2286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400" b="1" spc="60" dirty="0">
                <a:solidFill>
                  <a:srgbClr val="D97706"/>
                </a:solidFill>
                <a:latin typeface="Calibri"/>
                <a:cs typeface="Calibri"/>
              </a:rPr>
              <a:t>MY DEPLOYMENT JUDGMENT — PROPOSED CRITERIA</a:t>
            </a:r>
            <a:endParaRPr lang="en-US" sz="1400" dirty="0">
              <a:latin typeface="Calibri"/>
            </a:endParaRPr>
          </a:p>
        </p:txBody>
      </p:sp>
      <p:sp>
        <p:nvSpPr>
          <p:cNvPr id="3" name="TextBox 2"/>
          <p:cNvSpPr txBox="1"/>
          <p:nvPr/>
        </p:nvSpPr>
        <p:spPr>
          <a:xfrm>
            <a:off x="533400" y="609600"/>
            <a:ext cx="8763000" cy="508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3200" b="1" dirty="0">
                <a:solidFill>
                  <a:srgbClr val="000000"/>
                </a:solidFill>
                <a:latin typeface="Calibri"/>
                <a:cs typeface="Calibri"/>
              </a:rPr>
              <a:t>When I would not use this approach alone</a:t>
            </a:r>
            <a:endParaRPr lang="en-US" sz="3200" dirty="0">
              <a:latin typeface="Calibri"/>
            </a:endParaRPr>
          </a:p>
        </p:txBody>
      </p:sp>
      <p:cxnSp>
        <p:nvCxnSpPr>
          <p:cNvPr id="4" name="Connector 3"/>
          <p:cNvCxnSpPr/>
          <p:nvPr/>
        </p:nvCxnSpPr>
        <p:spPr>
          <a:xfrm>
            <a:off x="533400" y="6197600"/>
            <a:ext cx="1112520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6273800"/>
            <a:ext cx="9906000" cy="1778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000" b="0" dirty="0">
                <a:solidFill>
                  <a:srgbClr val="000000"/>
                </a:solidFill>
                <a:latin typeface="Calibri"/>
                <a:cs typeface="Calibri"/>
              </a:rPr>
              <a:t>My removal results; paper pp. 5–8; NIST exact binomial method (URL in notes).</a:t>
            </a:r>
            <a:endParaRPr lang="en-US" sz="1000" dirty="0">
              <a:latin typeface="Calibri"/>
            </a:endParaRPr>
          </a:p>
        </p:txBody>
      </p:sp>
      <p:sp>
        <p:nvSpPr>
          <p:cNvPr id="6" name="TextBox 5"/>
          <p:cNvSpPr txBox="1"/>
          <p:nvPr/>
        </p:nvSpPr>
        <p:spPr>
          <a:xfrm>
            <a:off x="10896600" y="6273800"/>
            <a:ext cx="762000" cy="177800"/>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1000" b="0" dirty="0">
                <a:solidFill>
                  <a:srgbClr val="000000"/>
                </a:solidFill>
                <a:latin typeface="Calibri"/>
                <a:cs typeface="Calibri"/>
              </a:rPr>
              <a:t>12 / 12</a:t>
            </a:r>
            <a:endParaRPr lang="en-US" sz="1000" dirty="0">
              <a:latin typeface="Calibri"/>
            </a:endParaRPr>
          </a:p>
        </p:txBody>
      </p:sp>
      <p:sp>
        <p:nvSpPr>
          <p:cNvPr id="7" name="Rounded Rectangle 6"/>
          <p:cNvSpPr/>
          <p:nvPr/>
        </p:nvSpPr>
        <p:spPr>
          <a:xfrm>
            <a:off x="533400" y="1219200"/>
            <a:ext cx="11125200" cy="762000"/>
          </a:xfrm>
          <a:prstGeom prst="roundRect">
            <a:avLst>
              <a:gd name="adj" fmla="val 12000"/>
            </a:avLst>
          </a:prstGeom>
          <a:solidFill>
            <a:srgbClr val="FB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2000" y="1219200"/>
            <a:ext cx="10668000" cy="762000"/>
          </a:xfrm>
          <a:prstGeom prst="rect">
            <a:avLst/>
          </a:prstGeom>
          <a:noFill/>
        </p:spPr>
        <p:txBody>
          <a:bodyPr wrap="square" lIns="0" tIns="0" rIns="0" bIns="0" anchor="ctr">
            <a:noAutofit/>
          </a:bodyPr>
          <a:lstStyle/>
          <a:p>
            <a:pPr marL="0" indent="0">
              <a:lnSpc>
                <a:spcPct val="100000"/>
              </a:lnSpc>
              <a:spcBef>
                <a:spcPts val="0"/>
              </a:spcBef>
              <a:spcAft>
                <a:spcPts val="0"/>
              </a:spcAft>
              <a:buNone/>
            </a:pPr>
            <a:r>
              <a:rPr lang="en-US" sz="2000" b="1" dirty="0">
                <a:solidFill>
                  <a:srgbClr val="B45309"/>
                </a:solidFill>
                <a:latin typeface="Calibri"/>
                <a:cs typeface="Calibri"/>
              </a:rPr>
              <a:t>Do not use it alone for autonomous writes, stale/missing API docs,</a:t>
            </a:r>
            <a:br>
              <a:rPr lang="en-US" sz="2000" b="1" dirty="0">
                <a:solidFill>
                  <a:srgbClr val="B45309"/>
                </a:solidFill>
                <a:latin typeface="Calibri"/>
                <a:cs typeface="Calibri"/>
              </a:rPr>
            </a:br>
            <a:r>
              <a:rPr lang="en-US" sz="2000" b="1" dirty="0">
                <a:solidFill>
                  <a:srgbClr val="B45309"/>
                </a:solidFill>
                <a:latin typeface="Calibri"/>
                <a:cs typeface="Calibri"/>
              </a:rPr>
              <a:t>or workflows needing execution guarantees.</a:t>
            </a:r>
            <a:endParaRPr lang="en-US" sz="2000" dirty="0">
              <a:latin typeface="Calibri"/>
            </a:endParaRPr>
          </a:p>
        </p:txBody>
      </p:sp>
      <p:sp>
        <p:nvSpPr>
          <p:cNvPr id="9" name="Rounded Rectangle 8"/>
          <p:cNvSpPr/>
          <p:nvPr/>
        </p:nvSpPr>
        <p:spPr>
          <a:xfrm>
            <a:off x="533400" y="2286000"/>
            <a:ext cx="5397500" cy="3251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33400" y="2286000"/>
            <a:ext cx="50800" cy="3251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7400" y="24892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D97706"/>
                </a:solidFill>
                <a:latin typeface="Calibri"/>
                <a:cs typeface="Calibri"/>
              </a:rPr>
              <a:t>Before paying customers</a:t>
            </a:r>
            <a:endParaRPr lang="en-US" sz="2000" dirty="0">
              <a:latin typeface="Calibri"/>
            </a:endParaRPr>
          </a:p>
        </p:txBody>
      </p:sp>
      <p:sp>
        <p:nvSpPr>
          <p:cNvPr id="12" name="TextBox 11"/>
          <p:cNvSpPr txBox="1"/>
          <p:nvPr/>
        </p:nvSpPr>
        <p:spPr>
          <a:xfrm>
            <a:off x="787400" y="2946400"/>
            <a:ext cx="4889500" cy="2413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Proposed target, not a paper result: ≥99.9% correct refusal on unsupported requests, with a 95% lower confidence bound ≥99.9%.</a:t>
            </a:r>
            <a:endParaRPr lang="en-US" sz="1800" dirty="0">
              <a:latin typeface="Calibri"/>
            </a:endParaRPr>
          </a:p>
          <a:p>
            <a:pPr marL="0" indent="0">
              <a:lnSpc>
                <a:spcPct val="100000"/>
              </a:lnSpc>
              <a:spcBef>
                <a:spcPts val="1000"/>
              </a:spcBef>
              <a:spcAft>
                <a:spcPts val="0"/>
              </a:spcAft>
              <a:buNone/>
            </a:pPr>
            <a:r>
              <a:rPr lang="en-US" sz="1800" b="0" dirty="0">
                <a:solidFill>
                  <a:srgbClr val="000000"/>
                </a:solidFill>
                <a:latin typeface="Calibri"/>
                <a:cs typeface="Calibri"/>
              </a:rPr>
              <a:t>10/10 would still be weak evidence. About 2,995/2,995 representative independent successes are needed.</a:t>
            </a:r>
            <a:endParaRPr lang="en-US" sz="1800" dirty="0">
              <a:latin typeface="Calibri"/>
            </a:endParaRPr>
          </a:p>
        </p:txBody>
      </p:sp>
      <p:sp>
        <p:nvSpPr>
          <p:cNvPr id="13" name="Rounded Rectangle 12"/>
          <p:cNvSpPr/>
          <p:nvPr/>
        </p:nvSpPr>
        <p:spPr>
          <a:xfrm>
            <a:off x="6261100" y="2286000"/>
            <a:ext cx="5397500" cy="3251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1100" y="2286000"/>
            <a:ext cx="50800" cy="3251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15100" y="2489200"/>
            <a:ext cx="4889500" cy="3302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2000" b="1" dirty="0">
                <a:solidFill>
                  <a:srgbClr val="D97706"/>
                </a:solidFill>
                <a:latin typeface="Calibri"/>
                <a:cs typeface="Calibri"/>
              </a:rPr>
              <a:t>Additional evidence and controls</a:t>
            </a:r>
            <a:endParaRPr lang="en-US" sz="2000" dirty="0">
              <a:latin typeface="Calibri"/>
            </a:endParaRPr>
          </a:p>
        </p:txBody>
      </p:sp>
      <p:sp>
        <p:nvSpPr>
          <p:cNvPr id="16" name="TextBox 15"/>
          <p:cNvSpPr txBox="1"/>
          <p:nvPr/>
        </p:nvSpPr>
        <p:spPr>
          <a:xfrm>
            <a:off x="6515100" y="2946400"/>
            <a:ext cx="4889500" cy="2413000"/>
          </a:xfrm>
          <a:prstGeom prst="rect">
            <a:avLst/>
          </a:prstGeom>
          <a:noFill/>
        </p:spPr>
        <p:txBody>
          <a:bodyPr wrap="square" lIns="0" tIns="0" rIns="0" bIns="0" anchor="t">
            <a:noAutofit/>
          </a:bodyPr>
          <a:lstStyle/>
          <a:p>
            <a:pPr marL="0" indent="0">
              <a:lnSpc>
                <a:spcPct val="100000"/>
              </a:lnSpc>
              <a:spcBef>
                <a:spcPts val="0"/>
              </a:spcBef>
              <a:spcAft>
                <a:spcPts val="0"/>
              </a:spcAft>
              <a:buNone/>
            </a:pPr>
            <a:r>
              <a:rPr lang="en-US" sz="1800" b="0" dirty="0">
                <a:solidFill>
                  <a:srgbClr val="000000"/>
                </a:solidFill>
                <a:latin typeface="Calibri"/>
                <a:cs typeface="Calibri"/>
              </a:rPr>
              <a:t>Supported-call accuracy + false refusals.</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Held-out APIs, version changes, and</a:t>
            </a:r>
            <a:br>
              <a:rPr lang="en-US" sz="1800" b="0" dirty="0">
                <a:solidFill>
                  <a:srgbClr val="000000"/>
                </a:solidFill>
                <a:latin typeface="Calibri"/>
                <a:cs typeface="Calibri"/>
              </a:rPr>
            </a:br>
            <a:r>
              <a:rPr lang="en-US" sz="1800" b="0" dirty="0">
                <a:solidFill>
                  <a:srgbClr val="000000"/>
                </a:solidFill>
                <a:latin typeface="Calibri"/>
                <a:cs typeface="Calibri"/>
              </a:rPr>
              <a:t>real-but-unavailable tools.</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API errors, latency, cost, and load tests.</a:t>
            </a:r>
            <a:endParaRPr lang="en-US" sz="1800" dirty="0">
              <a:latin typeface="Calibri"/>
            </a:endParaRPr>
          </a:p>
          <a:p>
            <a:pPr marL="0" indent="0">
              <a:lnSpc>
                <a:spcPct val="100000"/>
              </a:lnSpc>
              <a:spcBef>
                <a:spcPts val="600"/>
              </a:spcBef>
              <a:spcAft>
                <a:spcPts val="0"/>
              </a:spcAft>
              <a:buNone/>
            </a:pPr>
            <a:r>
              <a:rPr lang="en-US" sz="1800" b="0" dirty="0">
                <a:solidFill>
                  <a:srgbClr val="000000"/>
                </a:solidFill>
                <a:latin typeface="Calibri"/>
                <a:cs typeface="Calibri"/>
              </a:rPr>
              <a:t>Sandbox execution, allowlists, schema checks, and human review for writes.</a:t>
            </a:r>
            <a:endParaRPr lang="en-US" sz="1800" dirty="0">
              <a:latin typeface="Calibri"/>
            </a:endParaRPr>
          </a:p>
        </p:txBody>
      </p:sp>
    </p:spTree>
    <p:extLst>
      <p:ext uri="{BB962C8B-B14F-4D97-AF65-F5344CB8AC3E}">
        <p14:creationId xmlns:p14="http://schemas.microsoft.com/office/powerpoint/2010/main" val="2196319326"/>
      </p:ext>
    </p:extLst>
  </p:cSld>
  <p:clrMapOvr>
    <a:masterClrMapping/>
  </p:clrMapOvr>
</p:sld>
</file>

<file path=ppt/theme/theme1.xml><?xml version="1.0" encoding="utf-8"?>
<a:theme xmlns:a="http://schemas.openxmlformats.org/drawingml/2006/main" name="DCN_theme">
  <a:themeElements>
    <a:clrScheme name="따뜻한 파란색">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테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CN_theme" id="{07049BB8-A0C9-4AD1-A32F-904DA1AF0CE9}" vid="{17F484A3-C777-4EFE-BC6E-EA0A5DE5F7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84250F8-D5FB-47FB-B9E8-3461902AB191}">
  <we:reference id="WA200010001" version="1.0.0.1" store="Omex" storeType="OMEX"/>
  <we:alternateReferences>
    <we:reference id="WA200010001" version="1.0.0.1" store="WA200010001" storeType="OMEX"/>
  </we:alternateReferences>
  <we:properties>
    <we:property name="claude.fileId" value="&quot;b56a3029-eb29-4267-89dd-3f27f3a2fed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DCN_theme4160</Template>
  <TotalTime>1623</TotalTime>
  <Words>2563</Words>
  <Application>Microsoft Office PowerPoint</Application>
  <PresentationFormat>Widescreen</PresentationFormat>
  <Paragraphs>252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HY견고딕</vt:lpstr>
      <vt:lpstr>Aptos</vt:lpstr>
      <vt:lpstr>Arial</vt:lpstr>
      <vt:lpstr>Calibri</vt:lpstr>
      <vt:lpstr>DCN_theme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Hoang Thanh Loi</dc:creator>
  <cp:lastModifiedBy>Hoang Thanh Loi</cp:lastModifiedBy>
  <cp:revision>7</cp:revision>
  <dcterms:created xsi:type="dcterms:W3CDTF">2026-04-03T06:39:15Z</dcterms:created>
  <dcterms:modified xsi:type="dcterms:W3CDTF">2026-10-29T06:39:17Z</dcterms:modified>
</cp:coreProperties>
</file>